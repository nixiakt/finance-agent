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【20 秒】大家好，我们的项目是 Finance Agent。它不是自动交易系统，也不是让大模型凭记忆判断涨跌。模型负责理解用户问题和选择工具，程序负责获取真实数据、计算指标、记录证据并执行安全约束，最终形成一份可以检查来源和过程的研究结果。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【35 秒】股票价格、财报和新闻持续变化，模型参数里的知识不能代替实时查询。即使调用了一个 API，也可能遇到字段缺失、接口限流或不同来源口径不一致。单模型还容易沿着最先形成的观点继续推理。因此我们的目标不是让模型记住更多金融知识，而是让它查到、核对、引用，并在证据不足时降低结论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【60 秒】用户自然语言首先进入 AgentLoop。模型看到系统提示词和工具 schema，选择行情、历史、基本面、新闻或网页工具。工具结果作为 observation 回到下一轮模型调用，直到模型组织最终回答。金融工具底层通过 ProviderChain 查询多个真实来源并统一字段；程序再计算指标、检查来源覆盖和数据缺口。Skills、MCP 和 Memory 扩展能力，但权限层始终位于工具真正执行之前。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【55 秒】ProviderChain 会遍历适用的数据源，记录成功、失败、时间戳和字段覆盖。基本面会在币种和报告期兼容时补齐字段；新闻会过滤与标的不相关的结果。真实来源全部失败时，正式研究模式会明确写缺，不会让模型补出一个看似合理的数字。现有 AAPL 实测虽然拿到了价格、历史和部分财务字段，但 PE 和自由现金流缺失，所以质量门禁只给 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【50 秒】多个角色拿到的是同一份证据，而不是各自编一套事实。Bull 寻找正面驱动，Bear 寻找反例，Value、Macro/Risk 和 Anti-Bias 分别检查估值、宏观风险和认知偏差。Judge 汇总分歧，但最终把握还要受代码级质量门禁限制。多一个 Agent 不等于多一份真相，它的价值是让反例和分歧更可见。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【55 秒】安全层不只写在提示词里。读、写、执行和外传按风险分级；写入不能越出工作区，bash 会经过白名单、危险片段和路径检查，网页和文件内容会被标记成不可信数据。微信默认只写本地 outbox，不发送网络请求。用户要求真实下单时，AgentLoop 会确定性拒绝，也不会偷偷改写成纸面交易。红队报告中的六类用例均得到阻断记录。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【40 秒】当前版本完整回归为 188 项通过、1 项跳过。六任务消融回放中，完整策略成功率和 JSON 合法率都是 1.00；移除策略后降到 0.33 和 0.50。完整策略需要更多步骤和 token，因为它会规划、调用工具并在失败后换路。这里必须强调：确定性回放验证的是指标和规划管线，不代表投资预测准确率。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【30 秒】现场演示按评委四项要求安排。第一条看报告中的真实数据与缺失标注；第二条验证港股和美股代码解析；第三条确认预测不只输出，还会写入评分账本；第四条验证真实交易被拒绝，微信只进入 dry-run outbox。演示时默认 trace off 保持简洁，评委追问过程时输入 trace 展开上一轮轨迹。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000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858250" y="0"/>
            <a:ext cx="3333750" cy="4000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362950" y="666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浙江大学  ZHEJIANG UNIVERSITY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066800"/>
            <a:ext cx="10820400" cy="3028950"/>
          </a:xfrm>
          <a:prstGeom prst="roundRect">
            <a:avLst>
              <a:gd name="adj" fmla="val 1887"/>
            </a:avLst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552575"/>
            <a:ext cx="990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Finance Agent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3050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可审计的多源股票研究智能体</a:t>
            </a:r>
            <a:endParaRPr sz="270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30670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E7F0F8"/>
                </a:solidFill>
              </a:defRPr>
            </a:pPr>
            <a:r>
              <a:rPr sz="1650" b="0">
                <a:solidFill>
                  <a:srgbClr val="E7F0F8"/>
                </a:solidFill>
              </a:rPr>
              <a:t>真实工具 · 多源证据 · 多智能体辩论 · 可回评预测 · 安全边界</a:t>
            </a:r>
            <a:endParaRPr sz="1650" b="0">
              <a:solidFill>
                <a:srgbClr val="E7F0F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45148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111820"/>
                </a:solidFill>
              </a:defRPr>
            </a:pPr>
            <a:r>
              <a:rPr sz="2025" b="1">
                <a:solidFill>
                  <a:srgbClr val="111820"/>
                </a:solidFill>
              </a:rPr>
              <a:t>模型负责理解与编排</a:t>
            </a:r>
            <a:endParaRPr sz="2025" b="1">
              <a:solidFill>
                <a:srgbClr val="11182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72150" y="4448175"/>
            <a:ext cx="647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0A6B2"/>
                </a:solidFill>
              </a:defRPr>
            </a:pPr>
            <a:r>
              <a:rPr sz="2850" b="1">
                <a:solidFill>
                  <a:srgbClr val="00A6B2"/>
                </a:solidFill>
              </a:rPr>
              <a:t>×</a:t>
            </a:r>
            <a:endParaRPr sz="2850" b="1">
              <a:solidFill>
                <a:srgbClr val="00A6B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45148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111820"/>
                </a:solidFill>
              </a:defRPr>
            </a:pPr>
            <a:r>
              <a:rPr sz="2025" b="1">
                <a:solidFill>
                  <a:srgbClr val="111820"/>
                </a:solidFill>
              </a:rPr>
              <a:t>程序负责数据、计算与约束</a:t>
            </a:r>
            <a:endParaRPr sz="2025" b="1">
              <a:solidFill>
                <a:srgbClr val="11182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67000" y="53911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3F7D"/>
                </a:solidFill>
              </a:defRPr>
            </a:pPr>
            <a:r>
              <a:rPr sz="1650" b="1">
                <a:solidFill>
                  <a:srgbClr val="003F7D"/>
                </a:solidFill>
              </a:rPr>
              <a:t>李宇航 · 童泽远 · 马玉玺</a:t>
            </a:r>
            <a:endParaRPr sz="1650" b="1">
              <a:solidFill>
                <a:srgbClr val="003F7D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67000" y="58102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人工智能前沿实践 · 课程项目</a:t>
            </a:r>
            <a:endParaRPr sz="1275" b="0">
              <a:solidFill>
                <a:srgbClr val="53627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1 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334500" y="0"/>
            <a:ext cx="285750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896350" y="285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浙江大学  ZHEJIANG UNIVERSITY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23850"/>
            <a:ext cx="12192000" cy="47625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371475"/>
            <a:ext cx="12192000" cy="68580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85775"/>
            <a:ext cx="1108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股票研究的难点是回答无法核验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534150"/>
            <a:ext cx="3429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6534150"/>
            <a:ext cx="561975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6534150"/>
            <a:ext cx="314325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" y="6572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Finance Agent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65722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research only · facts / inference / risk · no auto trading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2 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52450" y="1390650"/>
            <a:ext cx="3429000" cy="371475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1390650"/>
            <a:ext cx="66675" cy="3714750"/>
          </a:xfrm>
          <a:prstGeom prst="rect">
            <a:avLst/>
          </a:prstGeom>
          <a:solidFill>
            <a:srgbClr val="C5483A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1581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C5483A"/>
                </a:solidFill>
              </a:defRPr>
            </a:pPr>
            <a:r>
              <a:rPr sz="2100" b="1">
                <a:solidFill>
                  <a:srgbClr val="C5483A"/>
                </a:solidFill>
              </a:rPr>
              <a:t>01</a:t>
            </a:r>
            <a:endParaRPr sz="2100" b="1">
              <a:solidFill>
                <a:srgbClr val="C5483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15811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C5483A"/>
                </a:solidFill>
              </a:defRPr>
            </a:pPr>
            <a:r>
              <a:rPr sz="1725" b="1">
                <a:solidFill>
                  <a:srgbClr val="C5483A"/>
                </a:solidFill>
              </a:rPr>
              <a:t>数据会过时</a:t>
            </a:r>
            <a:endParaRPr sz="1725" b="1">
              <a:solidFill>
                <a:srgbClr val="C5483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133600"/>
            <a:ext cx="29718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行情、财报和新闻持续变化。</a:t>
            </a:r>
            <a:endParaRPr sz="1350" b="0">
              <a:solidFill>
                <a:srgbClr val="111820"/>
              </a:solidFill>
            </a:endParaRPr>
          </a:p>
          <a:p>
            <a:endParaRPr sz="1350"/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模型参数中的知识不能代替实时查询。</a:t>
            </a:r>
            <a:endParaRPr sz="1350" b="0">
              <a:solidFill>
                <a:srgbClr val="111820"/>
              </a:solidFill>
            </a:endParaRPr>
          </a:p>
          <a:p>
            <a:endParaRPr sz="1350"/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后果：引用旧价格、旧事件或错误上市状态。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381500" y="1390650"/>
            <a:ext cx="3429000" cy="371475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381500" y="1390650"/>
            <a:ext cx="66675" cy="3714750"/>
          </a:xfrm>
          <a:prstGeom prst="rect">
            <a:avLst/>
          </a:prstGeom>
          <a:solidFill>
            <a:srgbClr val="D88A22"/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91050" y="1581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D88A22"/>
                </a:solidFill>
              </a:defRPr>
            </a:pPr>
            <a:r>
              <a:rPr sz="2100" b="1">
                <a:solidFill>
                  <a:srgbClr val="D88A22"/>
                </a:solidFill>
              </a:rPr>
              <a:t>02</a:t>
            </a:r>
            <a:endParaRPr sz="2100" b="1">
              <a:solidFill>
                <a:srgbClr val="D88A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62550" y="15811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D88A22"/>
                </a:solidFill>
              </a:defRPr>
            </a:pPr>
            <a:r>
              <a:rPr sz="1725" b="1">
                <a:solidFill>
                  <a:srgbClr val="D88A22"/>
                </a:solidFill>
              </a:rPr>
              <a:t>来源会缺失或冲突</a:t>
            </a:r>
            <a:endParaRPr sz="1725" b="1">
              <a:solidFill>
                <a:srgbClr val="D88A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10100" y="2133600"/>
            <a:ext cx="29718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免费接口可能限流，字段口径也并不一致。</a:t>
            </a:r>
            <a:endParaRPr sz="1350" b="0">
              <a:solidFill>
                <a:srgbClr val="111820"/>
              </a:solidFill>
            </a:endParaRPr>
          </a:p>
          <a:p>
            <a:endParaRPr sz="1350"/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单一来源成功，不等于数字已经被交叉验证。</a:t>
            </a:r>
            <a:endParaRPr sz="1350" b="0">
              <a:solidFill>
                <a:srgbClr val="111820"/>
              </a:solidFill>
            </a:endParaRPr>
          </a:p>
          <a:p>
            <a:endParaRPr sz="1350"/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后果：完整外观掩盖证据缺口。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210550" y="1390650"/>
            <a:ext cx="3429000" cy="371475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210550" y="1390650"/>
            <a:ext cx="66675" cy="37147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420100" y="1581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03F7D"/>
                </a:solidFill>
              </a:defRPr>
            </a:pPr>
            <a:r>
              <a:rPr sz="2100" b="1">
                <a:solidFill>
                  <a:srgbClr val="003F7D"/>
                </a:solidFill>
              </a:rPr>
              <a:t>03</a:t>
            </a:r>
            <a:endParaRPr sz="2100" b="1">
              <a:solidFill>
                <a:srgbClr val="003F7D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91600" y="15811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03F7D"/>
                </a:solidFill>
              </a:defRPr>
            </a:pPr>
            <a:r>
              <a:rPr sz="1725" b="1">
                <a:solidFill>
                  <a:srgbClr val="003F7D"/>
                </a:solidFill>
              </a:rPr>
              <a:t>模型会过度自信</a:t>
            </a:r>
            <a:endParaRPr sz="1725" b="1">
              <a:solidFill>
                <a:srgbClr val="003F7D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439150" y="2133600"/>
            <a:ext cx="29718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单模型容易沿着最先形成的叙事继续推理。</a:t>
            </a:r>
            <a:endParaRPr sz="1350" b="0">
              <a:solidFill>
                <a:srgbClr val="111820"/>
              </a:solidFill>
            </a:endParaRPr>
          </a:p>
          <a:p>
            <a:endParaRPr sz="1350"/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工具结果很多，也可能引用错数字或忽略反例。</a:t>
            </a:r>
            <a:endParaRPr sz="1350" b="0">
              <a:solidFill>
                <a:srgbClr val="111820"/>
              </a:solidFill>
            </a:endParaRPr>
          </a:p>
          <a:p>
            <a:endParaRPr sz="1350"/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后果：结论强度超过证据强度。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200150" y="5448300"/>
            <a:ext cx="9791700" cy="685800"/>
          </a:xfrm>
          <a:prstGeom prst="roundRect">
            <a:avLst>
              <a:gd name="adj" fmla="val 8333"/>
            </a:avLst>
          </a:prstGeom>
          <a:solidFill>
            <a:srgbClr val="F4F8FC"/>
          </a:solidFill>
          <a:ln w="9525">
            <a:solidFill>
              <a:srgbClr val="CBD8E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524000" y="560070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02B55"/>
                </a:solidFill>
              </a:defRPr>
            </a:pPr>
            <a:r>
              <a:rPr sz="1575" b="1">
                <a:solidFill>
                  <a:srgbClr val="002B55"/>
                </a:solidFill>
              </a:rPr>
              <a:t>目标不是让模型记住更多金融知识，而是让它查到、核对、引用，并在证据不足时降低结论强度。</a:t>
            </a:r>
            <a:endParaRPr sz="1575" b="1">
              <a:solidFill>
                <a:srgbClr val="002B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334500" y="0"/>
            <a:ext cx="285750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896350" y="285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浙江大学  ZHEJIANG UNIVERSITY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23850"/>
            <a:ext cx="12192000" cy="47625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371475"/>
            <a:ext cx="12192000" cy="68580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85775"/>
            <a:ext cx="1108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模型做决策，工具拿证据，程序守边界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534150"/>
            <a:ext cx="3429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6534150"/>
            <a:ext cx="561975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6534150"/>
            <a:ext cx="314325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" y="6572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Finance Agent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65722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research only · facts / inference / risk · no auto trading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3 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52450" y="1476375"/>
            <a:ext cx="1619250" cy="1028700"/>
          </a:xfrm>
          <a:prstGeom prst="roundRect">
            <a:avLst>
              <a:gd name="adj" fmla="val 5556"/>
            </a:avLst>
          </a:prstGeom>
          <a:solidFill>
            <a:srgbClr val="F4F8FC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6750" y="1638300"/>
            <a:ext cx="1390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用户问题</a:t>
            </a:r>
            <a:endParaRPr sz="1500" b="1">
              <a:solidFill>
                <a:srgbClr val="002B55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381250" y="1476375"/>
            <a:ext cx="2095500" cy="1028700"/>
          </a:xfrm>
          <a:prstGeom prst="roundRect">
            <a:avLst>
              <a:gd name="adj" fmla="val 5556"/>
            </a:avLst>
          </a:prstGeom>
          <a:solidFill>
            <a:srgbClr val="EAF3FB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495550" y="1638300"/>
            <a:ext cx="1866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AgentLoop</a:t>
            </a:r>
            <a:endParaRPr sz="1500" b="1">
              <a:solidFill>
                <a:srgbClr val="002B55"/>
              </a:solidFill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理解 + 工具选择</a:t>
            </a:r>
            <a:endParaRPr sz="1500" b="1">
              <a:solidFill>
                <a:srgbClr val="002B55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667250" y="1476375"/>
            <a:ext cx="2095500" cy="1028700"/>
          </a:xfrm>
          <a:prstGeom prst="roundRect">
            <a:avLst>
              <a:gd name="adj" fmla="val 5556"/>
            </a:avLst>
          </a:prstGeom>
          <a:solidFill>
            <a:srgbClr val="E8F7F7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781550" y="1638300"/>
            <a:ext cx="1866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ToolRegistry</a:t>
            </a:r>
            <a:endParaRPr sz="1500" b="1">
              <a:solidFill>
                <a:srgbClr val="002B55"/>
              </a:solidFill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金融 / Web / 文件</a:t>
            </a:r>
            <a:endParaRPr sz="1500" b="1">
              <a:solidFill>
                <a:srgbClr val="002B55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953250" y="1476375"/>
            <a:ext cx="2095500" cy="1028700"/>
          </a:xfrm>
          <a:prstGeom prst="roundRect">
            <a:avLst>
              <a:gd name="adj" fmla="val 5556"/>
            </a:avLst>
          </a:prstGeom>
          <a:solidFill>
            <a:srgbClr val="FFF5E7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67550" y="1638300"/>
            <a:ext cx="1866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ProviderChain</a:t>
            </a:r>
            <a:endParaRPr sz="1500" b="1">
              <a:solidFill>
                <a:srgbClr val="002B55"/>
              </a:solidFill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Yahoo / AKShare / Tushare</a:t>
            </a:r>
            <a:endParaRPr sz="1500" b="1">
              <a:solidFill>
                <a:srgbClr val="002B55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239250" y="1476375"/>
            <a:ext cx="2381250" cy="1028700"/>
          </a:xfrm>
          <a:prstGeom prst="roundRect">
            <a:avLst>
              <a:gd name="adj" fmla="val 5556"/>
            </a:avLst>
          </a:prstGeom>
          <a:solidFill>
            <a:srgbClr val="F0F7F3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353550" y="16383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统一证据</a:t>
            </a:r>
            <a:endParaRPr sz="1500" b="1">
              <a:solidFill>
                <a:srgbClr val="002B55"/>
              </a:solidFill>
            </a:endParaRP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002B55"/>
                </a:solidFill>
              </a:defRPr>
            </a:pPr>
            <a:r>
              <a:rPr sz="1500" b="1">
                <a:solidFill>
                  <a:srgbClr val="002B55"/>
                </a:solidFill>
              </a:rPr>
              <a:t>指标 + QualityGate</a:t>
            </a:r>
            <a:endParaRPr sz="1500" b="1">
              <a:solidFill>
                <a:srgbClr val="002B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57400" y="1724025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00A6B2"/>
                </a:solidFill>
              </a:defRPr>
            </a:pPr>
            <a:r>
              <a:rPr sz="2250" b="1">
                <a:solidFill>
                  <a:srgbClr val="00A6B2"/>
                </a:solidFill>
              </a:rPr>
              <a:t>→</a:t>
            </a:r>
            <a:endParaRPr sz="2250" b="1">
              <a:solidFill>
                <a:srgbClr val="00A6B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381500" y="1724025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00A6B2"/>
                </a:solidFill>
              </a:defRPr>
            </a:pPr>
            <a:r>
              <a:rPr sz="2250" b="1">
                <a:solidFill>
                  <a:srgbClr val="00A6B2"/>
                </a:solidFill>
              </a:rPr>
              <a:t>→</a:t>
            </a:r>
            <a:endParaRPr sz="2250" b="1">
              <a:solidFill>
                <a:srgbClr val="00A6B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0" y="1724025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00A6B2"/>
                </a:solidFill>
              </a:defRPr>
            </a:pPr>
            <a:r>
              <a:rPr sz="2250" b="1">
                <a:solidFill>
                  <a:srgbClr val="00A6B2"/>
                </a:solidFill>
              </a:rPr>
              <a:t>→</a:t>
            </a:r>
            <a:endParaRPr sz="2250" b="1">
              <a:solidFill>
                <a:srgbClr val="00A6B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53500" y="1724025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00A6B2"/>
                </a:solidFill>
              </a:defRPr>
            </a:pPr>
            <a:r>
              <a:rPr sz="2250" b="1">
                <a:solidFill>
                  <a:srgbClr val="00A6B2"/>
                </a:solidFill>
              </a:rPr>
              <a:t>→</a:t>
            </a:r>
            <a:endParaRPr sz="2250" b="1">
              <a:solidFill>
                <a:srgbClr val="00A6B2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76300" y="3219450"/>
            <a:ext cx="10439400" cy="16192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BD8E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23950" y="34290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03F7D"/>
                </a:solidFill>
              </a:defRPr>
            </a:pPr>
            <a:r>
              <a:rPr sz="1575" b="1">
                <a:solidFill>
                  <a:srgbClr val="003F7D"/>
                </a:solidFill>
              </a:rPr>
              <a:t>扩展能力</a:t>
            </a:r>
            <a:endParaRPr sz="1575" b="1">
              <a:solidFill>
                <a:srgbClr val="003F7D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571750" y="3371850"/>
            <a:ext cx="2438400" cy="323850"/>
          </a:xfrm>
          <a:prstGeom prst="roundRect">
            <a:avLst>
              <a:gd name="adj" fmla="val 17647"/>
            </a:avLst>
          </a:prstGeom>
          <a:solidFill>
            <a:srgbClr val="003F7D">
              <a:alpha val="9412"/>
            </a:srgbClr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647950" y="3390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03F7D"/>
                </a:solidFill>
              </a:defRPr>
            </a:pPr>
            <a:r>
              <a:rPr sz="1125" b="1">
                <a:solidFill>
                  <a:srgbClr val="003F7D"/>
                </a:solidFill>
              </a:rPr>
              <a:t>Skills：按需加载领域流程</a:t>
            </a:r>
            <a:endParaRPr sz="1125" b="1">
              <a:solidFill>
                <a:srgbClr val="003F7D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5219700" y="3371850"/>
            <a:ext cx="2362200" cy="323850"/>
          </a:xfrm>
          <a:prstGeom prst="roundRect">
            <a:avLst>
              <a:gd name="adj" fmla="val 17647"/>
            </a:avLst>
          </a:prstGeom>
          <a:solidFill>
            <a:srgbClr val="00A6B2">
              <a:alpha val="9412"/>
            </a:srgbClr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295900" y="3390900"/>
            <a:ext cx="220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0A6B2"/>
                </a:solidFill>
              </a:defRPr>
            </a:pPr>
            <a:r>
              <a:rPr sz="1125" b="1">
                <a:solidFill>
                  <a:srgbClr val="00A6B2"/>
                </a:solidFill>
              </a:rPr>
              <a:t>MCP：透明接入外部工具</a:t>
            </a:r>
            <a:endParaRPr sz="1125" b="1">
              <a:solidFill>
                <a:srgbClr val="00A6B2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791450" y="3371850"/>
            <a:ext cx="2476500" cy="323850"/>
          </a:xfrm>
          <a:prstGeom prst="roundRect">
            <a:avLst>
              <a:gd name="adj" fmla="val 17647"/>
            </a:avLst>
          </a:prstGeom>
          <a:solidFill>
            <a:srgbClr val="2D7D67">
              <a:alpha val="9412"/>
            </a:srgbClr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67650" y="33909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D7D67"/>
                </a:solidFill>
              </a:defRPr>
            </a:pPr>
            <a:r>
              <a:rPr sz="1125" b="1">
                <a:solidFill>
                  <a:srgbClr val="2D7D67"/>
                </a:solidFill>
              </a:rPr>
              <a:t>Memory：跨会话项目约定</a:t>
            </a:r>
            <a:endParaRPr sz="1125" b="1">
              <a:solidFill>
                <a:srgbClr val="2D7D67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257300" y="4000500"/>
            <a:ext cx="969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111820"/>
                </a:solidFill>
              </a:defRPr>
            </a:pPr>
            <a:r>
              <a:rPr sz="1500" b="0">
                <a:solidFill>
                  <a:srgbClr val="111820"/>
                </a:solidFill>
              </a:rPr>
              <a:t>所有工具调用都先经过权限判定；工具异常被写回 observation，模型可根据报错换路，而不是让主循环直接崩溃。</a:t>
            </a:r>
            <a:endParaRPr sz="1500" b="0">
              <a:solidFill>
                <a:srgbClr val="111820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1866900" y="5276850"/>
            <a:ext cx="8458200" cy="666750"/>
          </a:xfrm>
          <a:prstGeom prst="roundRect">
            <a:avLst>
              <a:gd name="adj" fmla="val 8571"/>
            </a:avLst>
          </a:prstGeom>
          <a:solidFill>
            <a:srgbClr val="FBEDEC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095500" y="541020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C5483A"/>
                </a:solidFill>
              </a:defRPr>
            </a:pPr>
            <a:r>
              <a:rPr sz="1800" b="1">
                <a:solidFill>
                  <a:srgbClr val="C5483A"/>
                </a:solidFill>
              </a:rPr>
              <a:t>安全层位于“模型决定调用”和“工具真正执行”之间</a:t>
            </a:r>
            <a:endParaRPr sz="1800" b="1">
              <a:solidFill>
                <a:srgbClr val="C5483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334500" y="0"/>
            <a:ext cx="285750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896350" y="285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浙江大学  ZHEJIANG UNIVERSITY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23850"/>
            <a:ext cx="12192000" cy="47625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371475"/>
            <a:ext cx="12192000" cy="68580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85775"/>
            <a:ext cx="1108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多源设计</a:t>
            </a:r>
            <a:r>
              <a:rPr lang="zh-CN" sz="2325" b="1">
                <a:solidFill>
                  <a:srgbClr val="FFFFFF"/>
                </a:solidFill>
              </a:rPr>
              <a:t>即使</a:t>
            </a:r>
            <a:r>
              <a:rPr sz="2325" b="1">
                <a:solidFill>
                  <a:srgbClr val="FFFFFF"/>
                </a:solidFill>
              </a:rPr>
              <a:t>“源多”，失败时</a:t>
            </a:r>
            <a:r>
              <a:rPr lang="zh-CN" sz="2325" b="1">
                <a:solidFill>
                  <a:srgbClr val="FFFFFF"/>
                </a:solidFill>
              </a:rPr>
              <a:t>也</a:t>
            </a:r>
            <a:r>
              <a:rPr sz="2325" b="1">
                <a:solidFill>
                  <a:srgbClr val="FFFFFF"/>
                </a:solidFill>
              </a:rPr>
              <a:t>不编数字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534150"/>
            <a:ext cx="3429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6534150"/>
            <a:ext cx="561975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6534150"/>
            <a:ext cx="314325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" y="6572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Finance Agent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65722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research only · facts / inference / risk · no auto trading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4 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" y="13049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03F7D"/>
                </a:solidFill>
              </a:defRPr>
            </a:pPr>
            <a:r>
              <a:rPr sz="1725" b="1">
                <a:solidFill>
                  <a:srgbClr val="003F7D"/>
                </a:solidFill>
              </a:rPr>
              <a:t>真实数据链路</a:t>
            </a:r>
            <a:endParaRPr sz="1725" b="1">
              <a:solidFill>
                <a:srgbClr val="003F7D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52450" y="1752600"/>
            <a:ext cx="1943100" cy="91440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04850" y="188595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3F7D"/>
                </a:solidFill>
              </a:defRPr>
            </a:pPr>
            <a:r>
              <a:rPr sz="1650" b="1">
                <a:solidFill>
                  <a:srgbClr val="003F7D"/>
                </a:solidFill>
              </a:rPr>
              <a:t>Yahoo</a:t>
            </a:r>
            <a:endParaRPr sz="1650" b="1">
              <a:solidFill>
                <a:srgbClr val="003F7D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22669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行情 · 历史 · 新闻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724150" y="1752600"/>
            <a:ext cx="1943100" cy="914400"/>
          </a:xfrm>
          <a:prstGeom prst="roundRect">
            <a:avLst>
              <a:gd name="adj" fmla="val 6250"/>
            </a:avLst>
          </a:prstGeom>
          <a:solidFill>
            <a:srgbClr val="E8F7F7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876550" y="188595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A6B2"/>
                </a:solidFill>
              </a:defRPr>
            </a:pPr>
            <a:r>
              <a:rPr sz="1650" b="1">
                <a:solidFill>
                  <a:srgbClr val="00A6B2"/>
                </a:solidFill>
              </a:rPr>
              <a:t>AKShare</a:t>
            </a:r>
            <a:endParaRPr sz="1650" b="1">
              <a:solidFill>
                <a:srgbClr val="00A6B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57500" y="22669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A / 港 / 美财务补齐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895850" y="1752600"/>
            <a:ext cx="1943100" cy="914400"/>
          </a:xfrm>
          <a:prstGeom prst="roundRect">
            <a:avLst>
              <a:gd name="adj" fmla="val 6250"/>
            </a:avLst>
          </a:prstGeom>
          <a:solidFill>
            <a:srgbClr val="F4F8FC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048250" y="188595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3F7D"/>
                </a:solidFill>
              </a:defRPr>
            </a:pPr>
            <a:r>
              <a:rPr sz="1650" b="1">
                <a:solidFill>
                  <a:srgbClr val="003F7D"/>
                </a:solidFill>
              </a:rPr>
              <a:t>Tushare</a:t>
            </a:r>
            <a:endParaRPr sz="1650" b="1">
              <a:solidFill>
                <a:srgbClr val="003F7D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29200" y="22669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A 股财报（需 token）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067550" y="1752600"/>
            <a:ext cx="1943100" cy="914400"/>
          </a:xfrm>
          <a:prstGeom prst="roundRect">
            <a:avLst>
              <a:gd name="adj" fmla="val 6250"/>
            </a:avLst>
          </a:prstGeom>
          <a:solidFill>
            <a:srgbClr val="E8F7F7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19950" y="188595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A6B2"/>
                </a:solidFill>
              </a:defRPr>
            </a:pPr>
            <a:r>
              <a:rPr sz="1650" b="1">
                <a:solidFill>
                  <a:srgbClr val="00A6B2"/>
                </a:solidFill>
              </a:rPr>
              <a:t>yfinance</a:t>
            </a:r>
            <a:endParaRPr sz="1650" b="1">
              <a:solidFill>
                <a:srgbClr val="00A6B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00900" y="22669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Yahoo 失败后的兼容回退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01150" y="1971675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00A6B2"/>
                </a:solidFill>
              </a:defRPr>
            </a:pPr>
            <a:r>
              <a:rPr sz="2400" b="1">
                <a:solidFill>
                  <a:srgbClr val="00A6B2"/>
                </a:solidFill>
              </a:rPr>
              <a:t>→</a:t>
            </a:r>
            <a:endParaRPr sz="2400" b="1">
              <a:solidFill>
                <a:srgbClr val="00A6B2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9620250" y="1752600"/>
            <a:ext cx="2019300" cy="914400"/>
          </a:xfrm>
          <a:prstGeom prst="roundRect">
            <a:avLst>
              <a:gd name="adj" fmla="val 6250"/>
            </a:avLst>
          </a:prstGeom>
          <a:solidFill>
            <a:srgbClr val="F0F7F3"/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753600" y="188595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D7D67"/>
                </a:solidFill>
              </a:defRPr>
            </a:pPr>
            <a:r>
              <a:rPr sz="1500" b="1">
                <a:solidFill>
                  <a:srgbClr val="2D7D67"/>
                </a:solidFill>
              </a:rPr>
              <a:t>StockSnapshot</a:t>
            </a:r>
            <a:endParaRPr sz="1500" b="1">
              <a:solidFill>
                <a:srgbClr val="2D7D6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753600" y="22669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统一口径 + coverage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52450" y="3105150"/>
            <a:ext cx="5219700" cy="272415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81050" y="33147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3F7D"/>
                </a:solidFill>
              </a:defRPr>
            </a:pPr>
            <a:r>
              <a:rPr sz="1650" b="1">
                <a:solidFill>
                  <a:srgbClr val="003F7D"/>
                </a:solidFill>
              </a:rPr>
              <a:t>AAPL 实测记录 · 2026-07-14</a:t>
            </a:r>
            <a:endParaRPr sz="1650" b="1">
              <a:solidFill>
                <a:srgbClr val="003F7D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0100" y="3810000"/>
            <a:ext cx="46863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行情     317.31 USD，当日 +0.63%（Yahoo）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历史     251 点；MA20 299.19，MA60 293.91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动量     RSI14 64.16；近 3 月 +21.82%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风险     年化波动率 24.12%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财务     EPS 7.49；营收 416.16B（AKShare）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缺口     PE、自由现金流缺失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3714750" y="53911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D88A22">
              <a:alpha val="9412"/>
            </a:srgbClr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790950" y="5410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D88A22"/>
                </a:solidFill>
              </a:defRPr>
            </a:pPr>
            <a:r>
              <a:rPr sz="1125" b="1">
                <a:solidFill>
                  <a:srgbClr val="D88A22"/>
                </a:solidFill>
              </a:rPr>
              <a:t>QualityGate：B</a:t>
            </a:r>
            <a:endParaRPr sz="1125" b="1">
              <a:solidFill>
                <a:srgbClr val="D88A22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191250" y="3105150"/>
            <a:ext cx="5448300" cy="2724150"/>
          </a:xfrm>
          <a:prstGeom prst="roundRect">
            <a:avLst>
              <a:gd name="adj" fmla="val 2098"/>
            </a:avLst>
          </a:prstGeom>
          <a:solidFill>
            <a:srgbClr val="F4F8FC"/>
          </a:solidFill>
          <a:ln w="9525">
            <a:solidFill>
              <a:srgbClr val="CBD8E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457950" y="3314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2B55"/>
                </a:solidFill>
              </a:defRPr>
            </a:pPr>
            <a:r>
              <a:rPr sz="1650" b="1">
                <a:solidFill>
                  <a:srgbClr val="002B55"/>
                </a:solidFill>
              </a:rPr>
              <a:t>降级原则</a:t>
            </a:r>
            <a:endParaRPr sz="1650" b="1">
              <a:solidFill>
                <a:srgbClr val="002B55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477000" y="38100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477000" y="38100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953250" y="38100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111820"/>
                </a:solidFill>
              </a:defRPr>
            </a:pPr>
            <a:r>
              <a:rPr sz="1275" b="0">
                <a:solidFill>
                  <a:srgbClr val="111820"/>
                </a:solidFill>
              </a:rPr>
              <a:t>遍历适用真实来源，记录成功、失败与时间戳</a:t>
            </a:r>
            <a:endParaRPr sz="1275" b="0">
              <a:solidFill>
                <a:srgbClr val="111820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477000" y="42672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477000" y="4267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953250" y="42672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111820"/>
                </a:solidFill>
              </a:defRPr>
            </a:pPr>
            <a:r>
              <a:rPr sz="1275" b="0">
                <a:solidFill>
                  <a:srgbClr val="111820"/>
                </a:solidFill>
              </a:rPr>
              <a:t>只在币种、报告期和口径兼容时补齐字段</a:t>
            </a:r>
            <a:endParaRPr sz="1275" b="0">
              <a:solidFill>
                <a:srgbClr val="111820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6477000" y="47244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477000" y="47244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953250" y="47244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111820"/>
                </a:solidFill>
              </a:defRPr>
            </a:pPr>
            <a:r>
              <a:rPr sz="1275" b="0">
                <a:solidFill>
                  <a:srgbClr val="111820"/>
                </a:solidFill>
              </a:rPr>
              <a:t>新闻先做标的相关性过滤，再去重与限量</a:t>
            </a:r>
            <a:endParaRPr sz="1275" b="0">
              <a:solidFill>
                <a:srgbClr val="111820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477000" y="51816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C5483A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477000" y="51816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953250" y="5181600"/>
            <a:ext cx="436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5483A"/>
                </a:solidFill>
              </a:defRPr>
            </a:pPr>
            <a:r>
              <a:rPr sz="1275" b="1">
                <a:solidFill>
                  <a:srgbClr val="C5483A"/>
                </a:solidFill>
              </a:rPr>
              <a:t>真实来源全部失败：明确写“缺”，不让模型补数</a:t>
            </a:r>
            <a:endParaRPr sz="1275" b="1">
              <a:solidFill>
                <a:srgbClr val="C5483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334500" y="0"/>
            <a:ext cx="285750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896350" y="285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浙江大学  ZHEJIANG UNIVERSITY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23850"/>
            <a:ext cx="12192000" cy="47625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371475"/>
            <a:ext cx="12192000" cy="68580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85775"/>
            <a:ext cx="1108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多智能体负责暴露分歧，质量门禁负责限制结论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534150"/>
            <a:ext cx="3429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6534150"/>
            <a:ext cx="561975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6534150"/>
            <a:ext cx="314325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" y="6572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Finance Agent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65722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research only · facts / inference / risk · no auto trading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5 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5800" y="1447800"/>
            <a:ext cx="18097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1609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2D7D67"/>
                </a:solidFill>
              </a:defRPr>
            </a:pPr>
            <a:r>
              <a:rPr sz="1575" b="1">
                <a:solidFill>
                  <a:srgbClr val="2D7D67"/>
                </a:solidFill>
              </a:rPr>
              <a:t>Bull</a:t>
            </a:r>
            <a:endParaRPr sz="1575" b="1">
              <a:solidFill>
                <a:srgbClr val="2D7D6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203835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增长与正面驱动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800350" y="1447800"/>
            <a:ext cx="18097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14650" y="1609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C5483A"/>
                </a:solidFill>
              </a:defRPr>
            </a:pPr>
            <a:r>
              <a:rPr sz="1575" b="1">
                <a:solidFill>
                  <a:srgbClr val="C5483A"/>
                </a:solidFill>
              </a:rPr>
              <a:t>Bear</a:t>
            </a:r>
            <a:endParaRPr sz="1575" b="1">
              <a:solidFill>
                <a:srgbClr val="C5483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33700" y="203835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风险、反例与下行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914900" y="1447800"/>
            <a:ext cx="18097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029200" y="1609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03F7D"/>
                </a:solidFill>
              </a:defRPr>
            </a:pPr>
            <a:r>
              <a:rPr sz="1575" b="1">
                <a:solidFill>
                  <a:srgbClr val="003F7D"/>
                </a:solidFill>
              </a:rPr>
              <a:t>Value</a:t>
            </a:r>
            <a:endParaRPr sz="1575" b="1">
              <a:solidFill>
                <a:srgbClr val="003F7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0" y="203835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估值与现金流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029450" y="1447800"/>
            <a:ext cx="18097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143750" y="1609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D88A22"/>
                </a:solidFill>
              </a:defRPr>
            </a:pPr>
            <a:r>
              <a:rPr sz="1575" b="1">
                <a:solidFill>
                  <a:srgbClr val="D88A22"/>
                </a:solidFill>
              </a:rPr>
              <a:t>Macro / Risk</a:t>
            </a:r>
            <a:endParaRPr sz="1575" b="1">
              <a:solidFill>
                <a:srgbClr val="D88A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62800" y="203835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宏观与尾部风险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9144000" y="1447800"/>
            <a:ext cx="18097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258300" y="1609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00A6B2"/>
                </a:solidFill>
              </a:defRPr>
            </a:pPr>
            <a:r>
              <a:rPr sz="1575" b="1">
                <a:solidFill>
                  <a:srgbClr val="00A6B2"/>
                </a:solidFill>
              </a:rPr>
              <a:t>Anti-Bias</a:t>
            </a:r>
            <a:endParaRPr sz="1575" b="1">
              <a:solidFill>
                <a:srgbClr val="00A6B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77350" y="203835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叙事与认知偏差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33750" y="2743200"/>
            <a:ext cx="552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02B55"/>
                </a:solidFill>
              </a:defRPr>
            </a:pPr>
            <a:r>
              <a:rPr sz="1725" b="1">
                <a:solidFill>
                  <a:srgbClr val="002B55"/>
                </a:solidFill>
              </a:rPr>
              <a:t>同一份编号证据，各自独立分析</a:t>
            </a:r>
            <a:endParaRPr sz="1725" b="1">
              <a:solidFill>
                <a:srgbClr val="002B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10250" y="3105150"/>
            <a:ext cx="57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00A6B2"/>
                </a:solidFill>
              </a:defRPr>
            </a:pPr>
            <a:r>
              <a:rPr sz="2400" b="1">
                <a:solidFill>
                  <a:srgbClr val="00A6B2"/>
                </a:solidFill>
              </a:rPr>
              <a:t>↓</a:t>
            </a:r>
            <a:endParaRPr sz="2400" b="1">
              <a:solidFill>
                <a:srgbClr val="00A6B2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90600" y="3638550"/>
            <a:ext cx="3028950" cy="1238250"/>
          </a:xfrm>
          <a:prstGeom prst="roundRect">
            <a:avLst>
              <a:gd name="adj" fmla="val 4615"/>
            </a:avLst>
          </a:prstGeom>
          <a:solidFill>
            <a:srgbClr val="F0F7F3"/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200150" y="3810000"/>
            <a:ext cx="2609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2D7D67"/>
                </a:solidFill>
              </a:defRPr>
            </a:pPr>
            <a:r>
              <a:rPr sz="1650" b="1">
                <a:solidFill>
                  <a:srgbClr val="2D7D67"/>
                </a:solidFill>
              </a:rPr>
              <a:t>Bull / Bear 交叉反驳</a:t>
            </a:r>
            <a:endParaRPr sz="1650" b="1">
              <a:solidFill>
                <a:srgbClr val="2D7D67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238250" y="4305300"/>
            <a:ext cx="2533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把冲突显式化，不让共识提前形成</a:t>
            </a:r>
            <a:endParaRPr sz="1275" b="0">
              <a:solidFill>
                <a:srgbClr val="536273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229100" y="398145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00A6B2"/>
                </a:solidFill>
              </a:defRPr>
            </a:pPr>
            <a:r>
              <a:rPr sz="2550" b="1">
                <a:solidFill>
                  <a:srgbClr val="00A6B2"/>
                </a:solidFill>
              </a:rPr>
              <a:t>→</a:t>
            </a:r>
            <a:endParaRPr sz="2550" b="1">
              <a:solidFill>
                <a:srgbClr val="00A6B2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800600" y="3638550"/>
            <a:ext cx="2571750" cy="123825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029200" y="3810000"/>
            <a:ext cx="2114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3F7D"/>
                </a:solidFill>
              </a:defRPr>
            </a:pPr>
            <a:r>
              <a:rPr sz="1650" b="1">
                <a:solidFill>
                  <a:srgbClr val="003F7D"/>
                </a:solidFill>
              </a:rPr>
              <a:t>Judge 综合判断</a:t>
            </a:r>
            <a:endParaRPr sz="1650" b="1">
              <a:solidFill>
                <a:srgbClr val="003F7D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010150" y="4305300"/>
            <a:ext cx="2152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输出共识、分歧、方向与依据</a:t>
            </a:r>
            <a:endParaRPr sz="1275" b="0">
              <a:solidFill>
                <a:srgbClr val="53627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524750" y="398145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00A6B2"/>
                </a:solidFill>
              </a:defRPr>
            </a:pPr>
            <a:r>
              <a:rPr sz="2550" b="1">
                <a:solidFill>
                  <a:srgbClr val="00A6B2"/>
                </a:solidFill>
              </a:rPr>
              <a:t>→</a:t>
            </a:r>
            <a:endParaRPr sz="2550" b="1">
              <a:solidFill>
                <a:srgbClr val="00A6B2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096250" y="3638550"/>
            <a:ext cx="3105150" cy="1238250"/>
          </a:xfrm>
          <a:prstGeom prst="roundRect">
            <a:avLst>
              <a:gd name="adj" fmla="val 4615"/>
            </a:avLst>
          </a:prstGeom>
          <a:solidFill>
            <a:srgbClr val="FFF5E7"/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305800" y="3810000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D88A22"/>
                </a:solidFill>
              </a:defRPr>
            </a:pPr>
            <a:r>
              <a:rPr sz="1650" b="1">
                <a:solidFill>
                  <a:srgbClr val="D88A22"/>
                </a:solidFill>
              </a:rPr>
              <a:t>QualityGate 独立约束</a:t>
            </a:r>
            <a:endParaRPr sz="1650" b="1">
              <a:solidFill>
                <a:srgbClr val="D88A22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24850" y="4305300"/>
            <a:ext cx="2647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缺失、单源或引用异常会压低把握</a:t>
            </a:r>
            <a:endParaRPr sz="1275" b="0">
              <a:solidFill>
                <a:srgbClr val="536273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1752600" y="5334000"/>
            <a:ext cx="8686800" cy="666750"/>
          </a:xfrm>
          <a:prstGeom prst="roundRect">
            <a:avLst>
              <a:gd name="adj" fmla="val 8571"/>
            </a:avLst>
          </a:prstGeom>
          <a:solidFill>
            <a:srgbClr val="FBEDEC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000250" y="546735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C5483A"/>
                </a:solidFill>
              </a:defRPr>
            </a:pPr>
            <a:r>
              <a:rPr sz="1650" b="1">
                <a:solidFill>
                  <a:srgbClr val="C5483A"/>
                </a:solidFill>
              </a:rPr>
              <a:t>多一个 Agent 不等于多一份真相；价值在于反例更可见、结论强度受证据约束。</a:t>
            </a:r>
            <a:endParaRPr sz="1650" b="1">
              <a:solidFill>
                <a:srgbClr val="C5483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334500" y="0"/>
            <a:ext cx="285750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896350" y="285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浙江大学  ZHEJIANG UNIVERSITY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23850"/>
            <a:ext cx="12192000" cy="47625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371475"/>
            <a:ext cx="12192000" cy="68580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85775"/>
            <a:ext cx="1108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研究能力可以扩展，但交易与外传必须受控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534150"/>
            <a:ext cx="3429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6534150"/>
            <a:ext cx="561975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6534150"/>
            <a:ext cx="314325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" y="6572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Finance Agent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65722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research only · facts / inference / risk · no auto trading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lang="en-US" sz="1050" b="0">
                <a:solidFill>
                  <a:srgbClr val="FFFFFF"/>
                </a:solidFill>
              </a:rPr>
              <a:t>6 </a:t>
            </a:r>
            <a:r>
              <a:rPr sz="1050" b="0">
                <a:solidFill>
                  <a:srgbClr val="FFFFFF"/>
                </a:solidFill>
              </a:rPr>
              <a:t>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52450" y="1390650"/>
            <a:ext cx="3409950" cy="2266950"/>
          </a:xfrm>
          <a:prstGeom prst="roundRect">
            <a:avLst>
              <a:gd name="adj" fmla="val 2521"/>
            </a:avLst>
          </a:prstGeom>
          <a:solidFill>
            <a:srgbClr val="F4F8FC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1390650"/>
            <a:ext cx="66675" cy="22669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1581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03F7D"/>
                </a:solidFill>
              </a:defRPr>
            </a:pPr>
            <a:r>
              <a:rPr sz="2100" b="1">
                <a:solidFill>
                  <a:srgbClr val="003F7D"/>
                </a:solidFill>
              </a:rPr>
              <a:t>①</a:t>
            </a:r>
            <a:endParaRPr sz="2100" b="1">
              <a:solidFill>
                <a:srgbClr val="003F7D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158115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03F7D"/>
                </a:solidFill>
              </a:defRPr>
            </a:pPr>
            <a:r>
              <a:rPr sz="1725" b="1">
                <a:solidFill>
                  <a:srgbClr val="003F7D"/>
                </a:solidFill>
              </a:rPr>
              <a:t>权限分层</a:t>
            </a:r>
            <a:endParaRPr sz="1725" b="1">
              <a:solidFill>
                <a:srgbClr val="003F7D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133600"/>
            <a:ext cx="2952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只读工具自动放行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写入限制在工作区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执行与外传必须确认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391025" y="1390650"/>
            <a:ext cx="3409950" cy="2266950"/>
          </a:xfrm>
          <a:prstGeom prst="roundRect">
            <a:avLst>
              <a:gd name="adj" fmla="val 2521"/>
            </a:avLst>
          </a:prstGeom>
          <a:solidFill>
            <a:srgbClr val="E8F7F7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391025" y="1390650"/>
            <a:ext cx="66675" cy="2266950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00575" y="1581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0A6B2"/>
                </a:solidFill>
              </a:defRPr>
            </a:pPr>
            <a:r>
              <a:rPr sz="2100" b="1">
                <a:solidFill>
                  <a:srgbClr val="00A6B2"/>
                </a:solidFill>
              </a:rPr>
              <a:t>②</a:t>
            </a:r>
            <a:endParaRPr sz="2100" b="1">
              <a:solidFill>
                <a:srgbClr val="00A6B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72075" y="158115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0A6B2"/>
                </a:solidFill>
              </a:defRPr>
            </a:pPr>
            <a:r>
              <a:rPr sz="1725" b="1">
                <a:solidFill>
                  <a:srgbClr val="00A6B2"/>
                </a:solidFill>
              </a:rPr>
              <a:t>注入隔离</a:t>
            </a:r>
            <a:endParaRPr sz="1725" b="1">
              <a:solidFill>
                <a:srgbClr val="00A6B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19625" y="2133600"/>
            <a:ext cx="2952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文件与网页标记为不可信数据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外部文本不能升级为系统指令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敏感路径与 secret 写入被拦截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229600" y="1390650"/>
            <a:ext cx="3409950" cy="2266950"/>
          </a:xfrm>
          <a:prstGeom prst="roundRect">
            <a:avLst>
              <a:gd name="adj" fmla="val 2521"/>
            </a:avLst>
          </a:prstGeom>
          <a:solidFill>
            <a:srgbClr val="FBEDEC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229600" y="1390650"/>
            <a:ext cx="66675" cy="2266950"/>
          </a:xfrm>
          <a:prstGeom prst="rect">
            <a:avLst/>
          </a:prstGeom>
          <a:solidFill>
            <a:srgbClr val="C5483A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439150" y="1581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C5483A"/>
                </a:solidFill>
              </a:defRPr>
            </a:pPr>
            <a:r>
              <a:rPr sz="2100" b="1">
                <a:solidFill>
                  <a:srgbClr val="C5483A"/>
                </a:solidFill>
              </a:rPr>
              <a:t>③</a:t>
            </a:r>
            <a:endParaRPr sz="2100" b="1">
              <a:solidFill>
                <a:srgbClr val="C5483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10650" y="158115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C5483A"/>
                </a:solidFill>
              </a:defRPr>
            </a:pPr>
            <a:r>
              <a:rPr sz="1725" b="1">
                <a:solidFill>
                  <a:srgbClr val="C5483A"/>
                </a:solidFill>
              </a:rPr>
              <a:t>副作用控制</a:t>
            </a:r>
            <a:endParaRPr sz="1725" b="1">
              <a:solidFill>
                <a:srgbClr val="C5483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458200" y="2133600"/>
            <a:ext cx="2952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危险 shell 命令默认拒绝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微信默认 dry-run 本地 outbox</a:t>
            </a:r>
            <a:endParaRPr sz="1350" b="0">
              <a:solidFill>
                <a:srgbClr val="111820"/>
              </a:solidFill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真实下单在主循环中确定性拒绝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4000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02B55"/>
                </a:solidFill>
              </a:defRPr>
            </a:pPr>
            <a:r>
              <a:rPr sz="1725" b="1">
                <a:solidFill>
                  <a:srgbClr val="002B55"/>
                </a:solidFill>
              </a:rPr>
              <a:t>红队用例</a:t>
            </a:r>
            <a:endParaRPr sz="1725" b="1">
              <a:solidFill>
                <a:srgbClr val="002B55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552450" y="445770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23900" y="45529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5483A"/>
                </a:solidFill>
              </a:defRPr>
            </a:pPr>
            <a:r>
              <a:rPr sz="1125" b="1">
                <a:solidFill>
                  <a:srgbClr val="C5483A"/>
                </a:solidFill>
              </a:rPr>
              <a:t>BLOCKED</a:t>
            </a:r>
            <a:endParaRPr sz="1125" b="1">
              <a:solidFill>
                <a:srgbClr val="C5483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733550" y="45339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越权执行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381500" y="445770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552950" y="45529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8A22"/>
                </a:solidFill>
              </a:defRPr>
            </a:pPr>
            <a:r>
              <a:rPr sz="1125" b="1">
                <a:solidFill>
                  <a:srgbClr val="D88A22"/>
                </a:solidFill>
              </a:rPr>
              <a:t>BLOCKED</a:t>
            </a:r>
            <a:endParaRPr sz="1125" b="1">
              <a:solidFill>
                <a:srgbClr val="D88A22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62600" y="45339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提示注入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210550" y="445770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382000" y="45529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C5483A"/>
                </a:solidFill>
              </a:defRPr>
            </a:pPr>
            <a:r>
              <a:rPr sz="1125" b="1">
                <a:solidFill>
                  <a:srgbClr val="C5483A"/>
                </a:solidFill>
              </a:rPr>
              <a:t>BLOCKED</a:t>
            </a:r>
            <a:endParaRPr sz="1125" b="1">
              <a:solidFill>
                <a:srgbClr val="C5483A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391650" y="45339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数据泄露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52450" y="508635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23900" y="51816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0A6B2"/>
                </a:solidFill>
              </a:defRPr>
            </a:pPr>
            <a:r>
              <a:rPr sz="1125" b="1">
                <a:solidFill>
                  <a:srgbClr val="00A6B2"/>
                </a:solidFill>
              </a:rPr>
              <a:t>BLOCKED</a:t>
            </a:r>
            <a:endParaRPr sz="1125" b="1">
              <a:solidFill>
                <a:srgbClr val="00A6B2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733550" y="5162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出站外传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4381500" y="508635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552950" y="51816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03F7D"/>
                </a:solidFill>
              </a:defRPr>
            </a:pPr>
            <a:r>
              <a:rPr sz="1125" b="1">
                <a:solidFill>
                  <a:srgbClr val="003F7D"/>
                </a:solidFill>
              </a:rPr>
              <a:t>BLOCKED</a:t>
            </a:r>
            <a:endParaRPr sz="1125" b="1">
              <a:solidFill>
                <a:srgbClr val="003F7D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562600" y="5162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越界写入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8210550" y="508635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382000" y="51816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D7D67"/>
                </a:solidFill>
              </a:defRPr>
            </a:pPr>
            <a:r>
              <a:rPr sz="1125" b="1">
                <a:solidFill>
                  <a:srgbClr val="2D7D67"/>
                </a:solidFill>
              </a:rPr>
              <a:t>BLOCKED</a:t>
            </a:r>
            <a:endParaRPr sz="1125" b="1">
              <a:solidFill>
                <a:srgbClr val="2D7D67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391650" y="5162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越狱</a:t>
            </a:r>
            <a:endParaRPr sz="1425" b="1">
              <a:solidFill>
                <a:srgbClr val="11182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334500" y="0"/>
            <a:ext cx="285750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896350" y="285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浙江大学  ZHEJIANG UNIVERSITY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23850"/>
            <a:ext cx="12192000" cy="47625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371475"/>
            <a:ext cx="12192000" cy="68580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85775"/>
            <a:ext cx="1108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可靠性来自可重复测试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534150"/>
            <a:ext cx="3429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6534150"/>
            <a:ext cx="561975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6534150"/>
            <a:ext cx="314325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" y="6572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Finance Agent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65722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research only · facts / inference / risk · no auto trading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lang="en-US" sz="1050" b="0">
                <a:solidFill>
                  <a:srgbClr val="FFFFFF"/>
                </a:solidFill>
              </a:rPr>
              <a:t>7</a:t>
            </a:r>
            <a:r>
              <a:rPr sz="1050" b="0">
                <a:solidFill>
                  <a:srgbClr val="FFFFFF"/>
                </a:solidFill>
              </a:rPr>
              <a:t> 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5800" y="1409700"/>
            <a:ext cx="3429000" cy="2476500"/>
          </a:xfrm>
          <a:prstGeom prst="roundRect">
            <a:avLst>
              <a:gd name="adj" fmla="val 2308"/>
            </a:avLst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1676400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188</a:t>
            </a:r>
            <a:endParaRPr sz="540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262890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tests passed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3333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E7F0F8"/>
                </a:solidFill>
              </a:defRPr>
            </a:pPr>
            <a:r>
              <a:rPr sz="1050" b="0">
                <a:solidFill>
                  <a:srgbClr val="E7F0F8"/>
                </a:solidFill>
              </a:rPr>
              <a:t>1 skipped · 真实模型诱导测试需显式开启</a:t>
            </a:r>
            <a:endParaRPr sz="1050" b="0">
              <a:solidFill>
                <a:srgbClr val="E7F0F8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495800" y="1409700"/>
            <a:ext cx="21907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67250" y="15621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3F7D"/>
                </a:solidFill>
              </a:defRPr>
            </a:pPr>
            <a:r>
              <a:rPr sz="1500" b="1">
                <a:solidFill>
                  <a:srgbClr val="003F7D"/>
                </a:solidFill>
              </a:rPr>
              <a:t>主循环</a:t>
            </a:r>
            <a:endParaRPr sz="1500" b="1">
              <a:solidFill>
                <a:srgbClr val="003F7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667250" y="1952625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tool error observation</a:t>
            </a:r>
            <a:endParaRPr sz="1125" b="0">
              <a:solidFill>
                <a:srgbClr val="536273"/>
              </a:solidFill>
            </a:endParaRPr>
          </a:p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上下文压缩与截断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086600" y="1409700"/>
            <a:ext cx="21907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58050" y="15621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2D7D67"/>
                </a:solidFill>
              </a:defRPr>
            </a:pPr>
            <a:r>
              <a:rPr sz="1500" b="1">
                <a:solidFill>
                  <a:srgbClr val="2D7D67"/>
                </a:solidFill>
              </a:rPr>
              <a:t>金融可靠性</a:t>
            </a:r>
            <a:endParaRPr sz="1500" b="1">
              <a:solidFill>
                <a:srgbClr val="2D7D6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58050" y="1952625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多源融合 · 代码解析</a:t>
            </a:r>
            <a:endParaRPr sz="1125" b="0">
              <a:solidFill>
                <a:srgbClr val="536273"/>
              </a:solidFill>
            </a:endParaRPr>
          </a:p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预测账本 · 纸面组合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677400" y="1409700"/>
            <a:ext cx="21907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848850" y="15621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A6B2"/>
                </a:solidFill>
              </a:defRPr>
            </a:pPr>
            <a:r>
              <a:rPr sz="1500" b="1">
                <a:solidFill>
                  <a:srgbClr val="00A6B2"/>
                </a:solidFill>
              </a:rPr>
              <a:t>扩展能力</a:t>
            </a:r>
            <a:endParaRPr sz="1500" b="1">
              <a:solidFill>
                <a:srgbClr val="00A6B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848850" y="1952625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CLI · MCP · Skills</a:t>
            </a:r>
            <a:endParaRPr sz="1125" b="0">
              <a:solidFill>
                <a:srgbClr val="536273"/>
              </a:solidFill>
            </a:endParaRPr>
          </a:p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动态命令与 Memory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495800" y="2895600"/>
            <a:ext cx="21907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667250" y="30480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C5483A"/>
                </a:solidFill>
              </a:defRPr>
            </a:pPr>
            <a:r>
              <a:rPr sz="1500" b="1">
                <a:solidFill>
                  <a:srgbClr val="C5483A"/>
                </a:solidFill>
              </a:rPr>
              <a:t>安全</a:t>
            </a:r>
            <a:endParaRPr sz="1500" b="1">
              <a:solidFill>
                <a:srgbClr val="C5483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667250" y="3438525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真实交易拒绝</a:t>
            </a:r>
            <a:endParaRPr sz="1125" b="0">
              <a:solidFill>
                <a:srgbClr val="536273"/>
              </a:solidFill>
            </a:endParaRPr>
          </a:p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路径 / secret / shell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086600" y="2895600"/>
            <a:ext cx="21907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258050" y="30480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88A22"/>
                </a:solidFill>
              </a:defRPr>
            </a:pPr>
            <a:r>
              <a:rPr sz="1500" b="1">
                <a:solidFill>
                  <a:srgbClr val="D88A22"/>
                </a:solidFill>
              </a:rPr>
              <a:t>副作用</a:t>
            </a:r>
            <a:endParaRPr sz="1500" b="1">
              <a:solidFill>
                <a:srgbClr val="D88A22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258050" y="3438525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dry-run outbox</a:t>
            </a:r>
            <a:endParaRPr sz="1125" b="0">
              <a:solidFill>
                <a:srgbClr val="536273"/>
              </a:solidFill>
            </a:endParaRPr>
          </a:p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失败后不重复执行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9677400" y="2895600"/>
            <a:ext cx="219075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848850" y="30480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003F7D"/>
                </a:solidFill>
              </a:defRPr>
            </a:pPr>
            <a:r>
              <a:rPr sz="1500" b="1">
                <a:solidFill>
                  <a:srgbClr val="003F7D"/>
                </a:solidFill>
              </a:rPr>
              <a:t>现场体验</a:t>
            </a:r>
            <a:endParaRPr sz="1500" b="1">
              <a:solidFill>
                <a:srgbClr val="003F7D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848850" y="3438525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trace 折叠 / 展开</a:t>
            </a:r>
            <a:endParaRPr sz="1125" b="0">
              <a:solidFill>
                <a:srgbClr val="536273"/>
              </a:solidFill>
            </a:endParaRPr>
          </a:p>
          <a:p>
            <a:pPr algn="ctr">
              <a:lnSpc>
                <a:spcPct val="108000"/>
              </a:lnSpc>
              <a:buNone/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错误呈现与补全</a:t>
            </a:r>
            <a:endParaRPr sz="1125" b="0">
              <a:solidFill>
                <a:srgbClr val="536273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85800" y="4572000"/>
            <a:ext cx="11182350" cy="1219200"/>
          </a:xfrm>
          <a:prstGeom prst="roundRect">
            <a:avLst>
              <a:gd name="adj" fmla="val 4688"/>
            </a:avLst>
          </a:prstGeom>
          <a:solidFill>
            <a:srgbClr val="F4F8FC"/>
          </a:solidFill>
          <a:ln w="9525">
            <a:solidFill>
              <a:srgbClr val="CBD8E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3450" y="4762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3F7D"/>
                </a:solidFill>
              </a:defRPr>
            </a:pPr>
            <a:r>
              <a:rPr sz="1500" b="1">
                <a:solidFill>
                  <a:srgbClr val="003F7D"/>
                </a:solidFill>
              </a:rPr>
              <a:t>量化消融 · n=6/组</a:t>
            </a:r>
            <a:endParaRPr sz="1500" b="1">
              <a:solidFill>
                <a:srgbClr val="003F7D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238500" y="47625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D7D67"/>
                </a:solidFill>
              </a:defRPr>
            </a:pPr>
            <a:r>
              <a:rPr sz="1350" b="1">
                <a:solidFill>
                  <a:srgbClr val="2D7D67"/>
                </a:solidFill>
              </a:rPr>
              <a:t>完整 policy</a:t>
            </a:r>
            <a:endParaRPr sz="1350" b="1">
              <a:solidFill>
                <a:srgbClr val="2D7D67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67250" y="476250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成功率 1.00 · JSON 1.00 · 平均 878 token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238500" y="52387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5483A"/>
                </a:solidFill>
              </a:defRPr>
            </a:pPr>
            <a:r>
              <a:rPr sz="1350" b="1">
                <a:solidFill>
                  <a:srgbClr val="C5483A"/>
                </a:solidFill>
              </a:rPr>
              <a:t>移除 policy</a:t>
            </a:r>
            <a:endParaRPr sz="1350" b="1">
              <a:solidFill>
                <a:srgbClr val="C5483A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667250" y="523875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111820"/>
                </a:solidFill>
              </a:defRPr>
            </a:pPr>
            <a:r>
              <a:rPr sz="1350" b="0">
                <a:solidFill>
                  <a:srgbClr val="111820"/>
                </a:solidFill>
              </a:rPr>
              <a:t>成功率 0.33 · JSON 0.50 · 平均 158 token</a:t>
            </a:r>
            <a:endParaRPr sz="1350" b="0">
              <a:solidFill>
                <a:srgbClr val="111820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810750" y="49149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536273"/>
                </a:solidFill>
              </a:defRPr>
            </a:pPr>
            <a:r>
              <a:rPr sz="1125" b="1">
                <a:solidFill>
                  <a:srgbClr val="536273"/>
                </a:solidFill>
              </a:rPr>
              <a:t>确定性轨迹回放，不代表投资准确率</a:t>
            </a:r>
            <a:endParaRPr sz="1125" b="1">
              <a:solidFill>
                <a:srgbClr val="53627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334500" y="0"/>
            <a:ext cx="285750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896350" y="285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浙江大学  ZHEJIANG UNIVERSITY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323850"/>
            <a:ext cx="12192000" cy="47625"/>
          </a:xfrm>
          <a:prstGeom prst="rect">
            <a:avLst/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371475"/>
            <a:ext cx="12192000" cy="68580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485775"/>
            <a:ext cx="1108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完成、恢复</a:t>
            </a:r>
            <a:r>
              <a:rPr lang="zh-CN" sz="2325" b="1">
                <a:solidFill>
                  <a:srgbClr val="FFFFFF"/>
                </a:solidFill>
              </a:rPr>
              <a:t>及</a:t>
            </a:r>
            <a:r>
              <a:rPr sz="2325" b="1">
                <a:solidFill>
                  <a:srgbClr val="FFFFFF"/>
                </a:solidFill>
              </a:rPr>
              <a:t>解释过程</a:t>
            </a:r>
            <a:endParaRPr sz="23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534150"/>
            <a:ext cx="342900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6534150"/>
            <a:ext cx="5619750" cy="323850"/>
          </a:xfrm>
          <a:prstGeom prst="rect">
            <a:avLst/>
          </a:prstGeom>
          <a:solidFill>
            <a:srgbClr val="111820"/>
          </a:solidFill>
          <a:ln w="9525">
            <a:solidFill>
              <a:srgbClr val="11182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6534150"/>
            <a:ext cx="3143250" cy="323850"/>
          </a:xfrm>
          <a:prstGeom prst="rect">
            <a:avLst/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1000" y="65722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Finance Agent</a:t>
            </a:r>
            <a:endParaRPr sz="105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65722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research only · facts / inference / risk · no auto trading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0" y="6572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lang="en-US" sz="1050" b="0">
                <a:solidFill>
                  <a:srgbClr val="FFFFFF"/>
                </a:solidFill>
              </a:rPr>
              <a:t>8</a:t>
            </a:r>
            <a:r>
              <a:rPr sz="1050" b="0">
                <a:solidFill>
                  <a:srgbClr val="FFFFFF"/>
                </a:solidFill>
              </a:rPr>
              <a:t> / </a:t>
            </a:r>
            <a:r>
              <a:rPr lang="en-US" sz="1050" b="0">
                <a:solidFill>
                  <a:srgbClr val="FFFFFF"/>
                </a:solidFill>
              </a:rPr>
              <a:t>8</a:t>
            </a:r>
            <a:endParaRPr lang="en-US" sz="1050" b="0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52450" y="1333500"/>
            <a:ext cx="110871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723900" y="1504950"/>
            <a:ext cx="666750" cy="647700"/>
          </a:xfrm>
          <a:prstGeom prst="roundRect">
            <a:avLst>
              <a:gd name="adj" fmla="val 8824"/>
            </a:avLst>
          </a:prstGeom>
          <a:solidFill>
            <a:srgbClr val="003F7D"/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1504950"/>
            <a:ext cx="66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19250" y="14668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03F7D"/>
                </a:solidFill>
              </a:defRPr>
            </a:pPr>
            <a:r>
              <a:rPr sz="1575" b="1">
                <a:solidFill>
                  <a:srgbClr val="003F7D"/>
                </a:solidFill>
              </a:rPr>
              <a:t>系统与跨会话记忆</a:t>
            </a:r>
            <a:endParaRPr sz="1575" b="1">
              <a:solidFill>
                <a:srgbClr val="003F7D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619250" y="1819275"/>
            <a:ext cx="693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11820"/>
                </a:solidFill>
              </a:defRPr>
            </a:pPr>
            <a:r>
              <a:rPr sz="1050" b="0">
                <a:solidFill>
                  <a:srgbClr val="111820"/>
                </a:solidFill>
              </a:rPr>
              <a:t>--selfcheck  →  /remember 港股报告保留展示代码和查询代码  →  重启</a:t>
            </a:r>
            <a:endParaRPr sz="1050" b="0">
              <a:solidFill>
                <a:srgbClr val="11182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1543050"/>
            <a:ext cx="2705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536273"/>
                </a:solidFill>
              </a:defRPr>
            </a:pPr>
            <a:r>
              <a:rPr sz="1200" b="1">
                <a:solidFill>
                  <a:srgbClr val="536273"/>
                </a:solidFill>
              </a:rPr>
              <a:t>证明系统存活；新进程仍遵循约定</a:t>
            </a:r>
            <a:endParaRPr sz="1200" b="1">
              <a:solidFill>
                <a:srgbClr val="53627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52450" y="2533650"/>
            <a:ext cx="110871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723900" y="2705100"/>
            <a:ext cx="666750" cy="647700"/>
          </a:xfrm>
          <a:prstGeom prst="roundRect">
            <a:avLst>
              <a:gd name="adj" fmla="val 8824"/>
            </a:avLst>
          </a:prstGeom>
          <a:solidFill>
            <a:srgbClr val="00A6B2"/>
          </a:solidFill>
          <a:ln w="9525">
            <a:solidFill>
              <a:srgbClr val="00A6B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2705100"/>
            <a:ext cx="66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619250" y="26670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0A6B2"/>
                </a:solidFill>
              </a:defRPr>
            </a:pPr>
            <a:r>
              <a:rPr sz="1575" b="1">
                <a:solidFill>
                  <a:srgbClr val="00A6B2"/>
                </a:solidFill>
              </a:rPr>
              <a:t>领域综合任务</a:t>
            </a:r>
            <a:endParaRPr sz="1575" b="1">
              <a:solidFill>
                <a:srgbClr val="00A6B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19250" y="3019425"/>
            <a:ext cx="693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11820"/>
                </a:solidFill>
              </a:defRPr>
            </a:pPr>
            <a:r>
              <a:rPr sz="1050" b="0">
                <a:solidFill>
                  <a:srgbClr val="111820"/>
                </a:solidFill>
              </a:rPr>
              <a:t>task_list → Skill → 多源金融工具 → mcp__finance__risk_budget → 预测入表</a:t>
            </a:r>
            <a:endParaRPr sz="1050" b="0">
              <a:solidFill>
                <a:srgbClr val="11182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0" y="2743200"/>
            <a:ext cx="2705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536273"/>
                </a:solidFill>
              </a:defRPr>
            </a:pPr>
            <a:r>
              <a:rPr sz="1200" b="1">
                <a:solidFill>
                  <a:srgbClr val="536273"/>
                </a:solidFill>
              </a:rPr>
              <a:t>完成腾讯 / AAPL 比较并导出报告</a:t>
            </a:r>
            <a:endParaRPr sz="1200" b="1">
              <a:solidFill>
                <a:srgbClr val="536273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52450" y="3733800"/>
            <a:ext cx="110871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723900" y="3905250"/>
            <a:ext cx="666750" cy="647700"/>
          </a:xfrm>
          <a:prstGeom prst="roundRect">
            <a:avLst>
              <a:gd name="adj" fmla="val 8824"/>
            </a:avLst>
          </a:prstGeom>
          <a:solidFill>
            <a:srgbClr val="2D7D67"/>
          </a:solidFill>
          <a:ln w="9525">
            <a:solidFill>
              <a:srgbClr val="2D7D6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3900" y="3905250"/>
            <a:ext cx="66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19250" y="38671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D7D67"/>
                </a:solidFill>
              </a:defRPr>
            </a:pPr>
            <a:r>
              <a:rPr sz="1575" b="1">
                <a:solidFill>
                  <a:srgbClr val="2D7D67"/>
                </a:solidFill>
              </a:rPr>
              <a:t>故意失败恢复</a:t>
            </a:r>
            <a:endParaRPr sz="1575" b="1">
              <a:solidFill>
                <a:srgbClr val="2D7D6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619250" y="4219575"/>
            <a:ext cx="693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11820"/>
                </a:solidFill>
              </a:defRPr>
            </a:pPr>
            <a:r>
              <a:rPr sz="1050" b="0">
                <a:solidFill>
                  <a:srgbClr val="111820"/>
                </a:solidFill>
              </a:rPr>
              <a:t>read data/watchlist.csv 失败 → glob 找到真实 CSV → 更新 todo → 继续</a:t>
            </a:r>
            <a:endParaRPr sz="1050" b="0">
              <a:solidFill>
                <a:srgbClr val="111820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0" y="3943350"/>
            <a:ext cx="2705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536273"/>
                </a:solidFill>
              </a:defRPr>
            </a:pPr>
            <a:r>
              <a:rPr sz="1200" b="1">
                <a:solidFill>
                  <a:srgbClr val="536273"/>
                </a:solidFill>
              </a:rPr>
              <a:t>展示错误 observation，而不是隐藏失败</a:t>
            </a:r>
            <a:endParaRPr sz="1200" b="1">
              <a:solidFill>
                <a:srgbClr val="536273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552450" y="4933950"/>
            <a:ext cx="110871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723900" y="5105400"/>
            <a:ext cx="666750" cy="647700"/>
          </a:xfrm>
          <a:prstGeom prst="roundRect">
            <a:avLst>
              <a:gd name="adj" fmla="val 8824"/>
            </a:avLst>
          </a:prstGeom>
          <a:solidFill>
            <a:srgbClr val="C5483A"/>
          </a:solidFill>
          <a:ln w="9525">
            <a:solidFill>
              <a:srgbClr val="C5483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23900" y="5105400"/>
            <a:ext cx="66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619250" y="50673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C5483A"/>
                </a:solidFill>
              </a:defRPr>
            </a:pPr>
            <a:r>
              <a:rPr sz="1575" b="1">
                <a:solidFill>
                  <a:srgbClr val="C5483A"/>
                </a:solidFill>
              </a:rPr>
              <a:t>安全与可观测</a:t>
            </a:r>
            <a:endParaRPr sz="1575" b="1">
              <a:solidFill>
                <a:srgbClr val="C5483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619250" y="5419725"/>
            <a:ext cx="693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11820"/>
                </a:solidFill>
              </a:defRPr>
            </a:pPr>
            <a:r>
              <a:rPr sz="1050" b="0">
                <a:solidFill>
                  <a:srgbClr val="111820"/>
                </a:solidFill>
              </a:rPr>
              <a:t>拒绝真实下单 + 微信 dry-run；任务后 /trace 回放耗时与 token</a:t>
            </a:r>
            <a:endParaRPr sz="1050" b="0">
              <a:solidFill>
                <a:srgbClr val="111820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667750" y="5143500"/>
            <a:ext cx="2705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536273"/>
                </a:solidFill>
              </a:defRPr>
            </a:pPr>
            <a:r>
              <a:rPr sz="1200" b="1">
                <a:solidFill>
                  <a:srgbClr val="536273"/>
                </a:solidFill>
              </a:rPr>
              <a:t>安全边界与过程解释同时可见</a:t>
            </a:r>
            <a:endParaRPr sz="1200" b="1">
              <a:solidFill>
                <a:srgbClr val="536273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3333750" y="6191250"/>
            <a:ext cx="2190750" cy="323850"/>
          </a:xfrm>
          <a:prstGeom prst="roundRect">
            <a:avLst>
              <a:gd name="adj" fmla="val 17647"/>
            </a:avLst>
          </a:prstGeom>
          <a:solidFill>
            <a:srgbClr val="003F7D">
              <a:alpha val="9412"/>
            </a:srgbClr>
          </a:solidFill>
          <a:ln w="9525">
            <a:solidFill>
              <a:srgbClr val="003F7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409950" y="62103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03F7D"/>
                </a:solidFill>
              </a:defRPr>
            </a:pPr>
            <a:r>
              <a:rPr sz="1125" b="1">
                <a:solidFill>
                  <a:srgbClr val="003F7D"/>
                </a:solidFill>
              </a:rPr>
              <a:t>演示默认 /trace off</a:t>
            </a:r>
            <a:endParaRPr sz="1125" b="1">
              <a:solidFill>
                <a:srgbClr val="003F7D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6667500" y="6191250"/>
            <a:ext cx="2381250" cy="323850"/>
          </a:xfrm>
          <a:prstGeom prst="roundRect">
            <a:avLst>
              <a:gd name="adj" fmla="val 17647"/>
            </a:avLst>
          </a:prstGeom>
          <a:solidFill>
            <a:srgbClr val="D88A22">
              <a:alpha val="9412"/>
            </a:srgbClr>
          </a:solidFill>
          <a:ln w="9525">
            <a:solidFill>
              <a:srgbClr val="D88A22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743700" y="62103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D88A22"/>
                </a:solidFill>
              </a:defRPr>
            </a:pPr>
            <a:r>
              <a:rPr sz="1125" b="1">
                <a:solidFill>
                  <a:srgbClr val="D88A22"/>
                </a:solidFill>
              </a:rPr>
              <a:t>评委追问时输入 /trace</a:t>
            </a:r>
            <a:endParaRPr sz="1125" b="1">
              <a:solidFill>
                <a:srgbClr val="D88A2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WPS 文字</Application>
  <PresentationFormat>Converted Presentation</PresentationFormat>
  <Paragraphs>385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马玉玺</cp:lastModifiedBy>
  <cp:revision>2</cp:revision>
  <dcterms:created xsi:type="dcterms:W3CDTF">2026-07-14T15:44:54Z</dcterms:created>
  <dcterms:modified xsi:type="dcterms:W3CDTF">2026-07-14T15:44:54Z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624BEC9EE2333A6C6B48566AAF212DDD_42</vt:lpwstr>
  </property>
</Properties>
</file>