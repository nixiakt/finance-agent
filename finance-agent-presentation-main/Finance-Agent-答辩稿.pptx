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db0b129981465c" /><Relationship Type="http://schemas.openxmlformats.org/officeDocument/2006/relationships/extended-properties" Target="/docProps/app.xml" Id="Rbd931cf976aa4518" /><Relationship Type="http://schemas.openxmlformats.org/officeDocument/2006/relationships/officeDocument" Target="/ppt/presentation.xml" Id="R4061f38f88a846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8f7a57671d417c"/>
  </p:sldMasterIdLst>
  <p:notesMasterIdLst>
    <p:notesMasterId xmlns:r="http://schemas.openxmlformats.org/officeDocument/2006/relationships" r:id="R0edf6dfc0c6845ec"/>
  </p:notesMasterIdLst>
  <p:sldIdLst>
    <p:sldId xmlns:r="http://schemas.openxmlformats.org/officeDocument/2006/relationships" id="256" r:id="Rcd1cea3bb1004081"/>
    <p:sldId xmlns:r="http://schemas.openxmlformats.org/officeDocument/2006/relationships" id="257" r:id="R40f9d84343ff4150"/>
    <p:sldId xmlns:r="http://schemas.openxmlformats.org/officeDocument/2006/relationships" id="258" r:id="R0b0debb124e84eeb"/>
    <p:sldId xmlns:r="http://schemas.openxmlformats.org/officeDocument/2006/relationships" id="259" r:id="Rddad0acb96a04e65"/>
    <p:sldId xmlns:r="http://schemas.openxmlformats.org/officeDocument/2006/relationships" id="260" r:id="R87e07760373146ba"/>
    <p:sldId xmlns:r="http://schemas.openxmlformats.org/officeDocument/2006/relationships" id="261" r:id="R76517dad08b641c3"/>
    <p:sldId xmlns:r="http://schemas.openxmlformats.org/officeDocument/2006/relationships" id="262" r:id="R293d55f8bd194952"/>
    <p:sldId xmlns:r="http://schemas.openxmlformats.org/officeDocument/2006/relationships" id="263" r:id="R47e804324fe34134"/>
    <p:sldId xmlns:r="http://schemas.openxmlformats.org/officeDocument/2006/relationships" id="264" r:id="R7ae3eec18bfb439b"/>
    <p:sldId xmlns:r="http://schemas.openxmlformats.org/officeDocument/2006/relationships" id="265" r:id="R96c0cc8efc7c40c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ff9dddb4114323" /><Relationship Type="http://schemas.openxmlformats.org/officeDocument/2006/relationships/slideMaster" Target="/ppt/slideMasters/slideMaster1.xml" Id="R308f7a57671d417c" /><Relationship Type="http://schemas.openxmlformats.org/officeDocument/2006/relationships/notesMaster" Target="/ppt/notesMasters/notesMaster1.xml" Id="R0edf6dfc0c6845ec" /><Relationship Type="http://schemas.openxmlformats.org/officeDocument/2006/relationships/presProps" Target="/ppt/presProps.xml" Id="R6ace095507674cb9" /><Relationship Type="http://schemas.openxmlformats.org/officeDocument/2006/relationships/tableStyles" Target="/ppt/tableStyles.xml" Id="R501b58c0ff2b49b5" /><Relationship Type="http://schemas.openxmlformats.org/officeDocument/2006/relationships/slide" Target="/ppt/slides/slide1.xml" Id="Rcd1cea3bb1004081" /><Relationship Type="http://schemas.openxmlformats.org/officeDocument/2006/relationships/slide" Target="/ppt/slides/slide2.xml" Id="R40f9d84343ff4150" /><Relationship Type="http://schemas.openxmlformats.org/officeDocument/2006/relationships/slide" Target="/ppt/slides/slide3.xml" Id="R0b0debb124e84eeb" /><Relationship Type="http://schemas.openxmlformats.org/officeDocument/2006/relationships/slide" Target="/ppt/slides/slide4.xml" Id="Rddad0acb96a04e65" /><Relationship Type="http://schemas.openxmlformats.org/officeDocument/2006/relationships/slide" Target="/ppt/slides/slide5.xml" Id="R87e07760373146ba" /><Relationship Type="http://schemas.openxmlformats.org/officeDocument/2006/relationships/slide" Target="/ppt/slides/slide6.xml" Id="R76517dad08b641c3" /><Relationship Type="http://schemas.openxmlformats.org/officeDocument/2006/relationships/slide" Target="/ppt/slides/slide7.xml" Id="R293d55f8bd194952" /><Relationship Type="http://schemas.openxmlformats.org/officeDocument/2006/relationships/slide" Target="/ppt/slides/slide8.xml" Id="R47e804324fe34134" /><Relationship Type="http://schemas.openxmlformats.org/officeDocument/2006/relationships/slide" Target="/ppt/slides/slide9.xml" Id="R7ae3eec18bfb439b" /><Relationship Type="http://schemas.openxmlformats.org/officeDocument/2006/relationships/slide" Target="/ppt/slides/slide10.xml" Id="R96c0cc8efc7c40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17484a9e544f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cc9d732e67491b" /><Relationship Type="http://schemas.openxmlformats.org/officeDocument/2006/relationships/notesMaster" Target="/ppt/notesMasters/notesMaster1.xml" Id="R08bd820135514b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f1d2cbdc2d4571" /><Relationship Type="http://schemas.openxmlformats.org/officeDocument/2006/relationships/notesMaster" Target="/ppt/notesMasters/notesMaster1.xml" Id="Rab805da6b47544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0458f400074b41" /><Relationship Type="http://schemas.openxmlformats.org/officeDocument/2006/relationships/notesMaster" Target="/ppt/notesMasters/notesMaster1.xml" Id="R84eb7bc784ce47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8d642cad004a7f" /><Relationship Type="http://schemas.openxmlformats.org/officeDocument/2006/relationships/notesMaster" Target="/ppt/notesMasters/notesMaster1.xml" Id="Rc588351e9e844d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bf890cc8964fbb" /><Relationship Type="http://schemas.openxmlformats.org/officeDocument/2006/relationships/notesMaster" Target="/ppt/notesMasters/notesMaster1.xml" Id="Rd0014418f55a4f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50fe06974e4ef3" /><Relationship Type="http://schemas.openxmlformats.org/officeDocument/2006/relationships/notesMaster" Target="/ppt/notesMasters/notesMaster1.xml" Id="R39b59b86bba644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eda99c88b048a9" /><Relationship Type="http://schemas.openxmlformats.org/officeDocument/2006/relationships/notesMaster" Target="/ppt/notesMasters/notesMaster1.xml" Id="R7349186254ae489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1bc1470e414723" /><Relationship Type="http://schemas.openxmlformats.org/officeDocument/2006/relationships/notesMaster" Target="/ppt/notesMasters/notesMaster1.xml" Id="R29ca2a52903c43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8290977d6cf40ff" /><Relationship Type="http://schemas.openxmlformats.org/officeDocument/2006/relationships/notesMaster" Target="/ppt/notesMasters/notesMaster1.xml" Id="Rd9c6cb20b0a04b6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a66f179aad1443e" /><Relationship Type="http://schemas.openxmlformats.org/officeDocument/2006/relationships/notesMaster" Target="/ppt/notesMasters/notesMaster1.xml" Id="Rb940461a0b1e40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【20 秒】大家好，我们的项目是 Finance Agent。它不是自动交易系统，也不是让大模型凭记忆判断涨跌。模型负责理解用户问题和选择工具，程序负责获取真实数据、计算指标、记录证据并执行安全约束，最终形成一份可以检查来源和过程的研究结果。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【35 秒】股票价格、财报和新闻持续变化，模型参数里的知识不能代替实时查询。即使调用了一个 API，也可能遇到字段缺失、接口限流或不同来源口径不一致。单模型还容易沿着最先形成的观点继续推理。因此我们的目标不是让模型记住更多金融知识，而是让它查到、核对、引用，并在证据不足时降低结论强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【60 秒】用户自然语言首先进入 AgentLoop。模型看到系统提示词和工具 schema，选择行情、历史、基本面、新闻或网页工具。工具结果作为 observation 回到下一轮模型调用，直到模型组织最终回答。金融工具底层通过 ProviderChain 查询多个真实来源并统一字段；程序再计算指标、检查来源覆盖和数据缺口。Skills、MCP 和 Memory 扩展能力，但权限层始终位于工具真正执行之前。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【55 秒】ProviderChain 会遍历适用的数据源，记录成功、失败、时间戳和字段覆盖。基本面会在币种和报告期兼容时补齐字段；新闻会过滤与标的不相关的结果。真实来源全部失败时，正式研究模式会明确写缺，不会让模型补出一个看似合理的数字。现有 AAPL 实测虽然拿到了价格、历史和部分财务字段，但 PE 和自由现金流缺失，所以质量门禁只给 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【50 秒】多个角色拿到的是同一份证据，而不是各自编一套事实。Bull 寻找正面驱动，Bear 寻找反例，Value、Macro/Risk 和 Anti-Bias 分别检查估值、宏观风险和认知偏差。Judge 汇总分歧，但最终把握还要受代码级质量门禁限制。多一个 Agent 不等于多一份真相，它的价值是让反例和分歧更可见。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【55 秒】Day 7 到 Day 9 补齐了 Agent 的持续运行能力。长期约定写入 MEMORY.md 或 KV 记忆，新进程启动时召回，但不能覆盖安全 system policy。预计四步以上的任务先建立 task_list，完成一步就更新；失败时把原因写回 observation，再增加替代路线。DeepSeek 返回的 usage 会保留到 trace，任务结束后能看到输入、输出和总 token；配置单价后还能估算费用。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【55 秒】安全层不只写在提示词里。读、写、执行和外传按风险分级；写入不能越出工作区，bash 会经过白名单、危险片段和路径检查，网页和文件内容会被标记成不可信数据。微信默认只写本地 outbox，不发送网络请求。用户要求真实下单时，AgentLoop 会确定性拒绝，也不会偷偷改写成纸面交易。红队报告中的六类用例均得到阻断记录。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【40 秒】当前版本完整回归为 188 项通过、1 项跳过。六任务消融回放中，完整策略成功率和 JSON 合法率都是 1.00；移除策略后降到 0.33 和 0.50。完整策略需要更多步骤和 token，因为它会规划、调用工具并在失败后换路。这里必须强调：确定性回放验证的是指标和规划管线，不代表投资预测准确率。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 秒】现场演示按评委四项要求安排。第一条看报告中的真实数据与缺失标注；第二条验证港股和美股代码解析；第三条确认预测不只输出，还会写入评分账本；第四条验证真实交易被拒绝，微信只进入 dry-run outbox。演示时默认 trace off 保持简洁，评委追问过程时输入 trace 展开上一轮轨迹。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【25 秒】Finance Agent 把模型会回答变成了研究过程可检查：数字能追到数据源，缺失不会被编造，观点会保留反证，预测会等待真实价格评分，危险动作会被程序拦截。下一步最重要的不是增加更多角色，而是积累更多真实到期预测，持续校准数据源可靠性和置信度。我们的边界始终不变：只做研究辅助，不连接真实交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2aed084baf40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d81178e5354aee" /><Relationship Type="http://schemas.openxmlformats.org/officeDocument/2006/relationships/slideLayout" Target="/ppt/slideLayouts/slideLayout1.xml" Id="R87f746dbdd834c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f746dbdd834c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12be3aa1484bbd" /><Relationship Type="http://schemas.openxmlformats.org/officeDocument/2006/relationships/image" Target="/ppt/media/image.png" Id="Rb464437ffb9c49b2" /><Relationship Type="http://schemas.openxmlformats.org/officeDocument/2006/relationships/notesSlide" Target="/ppt/notesSlides/notesSlide1.xml" Id="Rff9e667a3d1948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d98e65905942dd" /><Relationship Type="http://schemas.openxmlformats.org/officeDocument/2006/relationships/image" Target="/ppt/media/image2.png" Id="R430267ac80c44738" /><Relationship Type="http://schemas.openxmlformats.org/officeDocument/2006/relationships/notesSlide" Target="/ppt/notesSlides/notesSlide2.xml" Id="R53fe49d95e1247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7aeda11e04512" /><Relationship Type="http://schemas.openxmlformats.org/officeDocument/2006/relationships/image" Target="/ppt/media/image3.png" Id="Rd45bef9e6d334ac0" /><Relationship Type="http://schemas.openxmlformats.org/officeDocument/2006/relationships/notesSlide" Target="/ppt/notesSlides/notesSlide3.xml" Id="Rdd9ae09809774b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05f204c51461b" /><Relationship Type="http://schemas.openxmlformats.org/officeDocument/2006/relationships/image" Target="/ppt/media/image4.png" Id="Rf1a6260899b74188" /><Relationship Type="http://schemas.openxmlformats.org/officeDocument/2006/relationships/notesSlide" Target="/ppt/notesSlides/notesSlide4.xml" Id="R791e217d87ee45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b7c6dfd8774a7d" /><Relationship Type="http://schemas.openxmlformats.org/officeDocument/2006/relationships/image" Target="/ppt/media/image5.png" Id="Rb0ea995722aa4983" /><Relationship Type="http://schemas.openxmlformats.org/officeDocument/2006/relationships/notesSlide" Target="/ppt/notesSlides/notesSlide5.xml" Id="Raf7ae063766944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9f6378b0f4587" /><Relationship Type="http://schemas.openxmlformats.org/officeDocument/2006/relationships/image" Target="/ppt/media/image6.png" Id="R7c57af26d9e54022" /><Relationship Type="http://schemas.openxmlformats.org/officeDocument/2006/relationships/notesSlide" Target="/ppt/notesSlides/notesSlide6.xml" Id="R524f6f97941d4f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890f19f0947e6" /><Relationship Type="http://schemas.openxmlformats.org/officeDocument/2006/relationships/image" Target="/ppt/media/image7.png" Id="R26f9d700b7104850" /><Relationship Type="http://schemas.openxmlformats.org/officeDocument/2006/relationships/notesSlide" Target="/ppt/notesSlides/notesSlide7.xml" Id="Rb1628ee7401449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1dc78b905f421a" /><Relationship Type="http://schemas.openxmlformats.org/officeDocument/2006/relationships/image" Target="/ppt/media/image8.png" Id="R93924f66e5874dcd" /><Relationship Type="http://schemas.openxmlformats.org/officeDocument/2006/relationships/notesSlide" Target="/ppt/notesSlides/notesSlide8.xml" Id="R7c054e00107d433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455514dbb4382" /><Relationship Type="http://schemas.openxmlformats.org/officeDocument/2006/relationships/image" Target="/ppt/media/image9.png" Id="Rf0b2d43e1f054500" /><Relationship Type="http://schemas.openxmlformats.org/officeDocument/2006/relationships/notesSlide" Target="/ppt/notesSlides/notesSlide9.xml" Id="Rc73d78bfc38342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dccd42bfc94ddd" /><Relationship Type="http://schemas.openxmlformats.org/officeDocument/2006/relationships/image" Target="/ppt/media/image10.png" Id="R9134467511aa48c2" /><Relationship Type="http://schemas.openxmlformats.org/officeDocument/2006/relationships/notesSlide" Target="/ppt/notesSlides/notesSlide10.xml" Id="R9a3ac41aaff249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64437ffb9c49b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9795AD-FAEB-4EA7-8037-30322F9B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4F7EDF-298A-4765-875C-9EE4AC4B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8500CC-89AE-48A2-B8CE-A70F5224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6667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浙江大学  ZHEJIANG UNIVERSITY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87B88D-23AD-4509-BC46-508EC353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0820400" cy="3028950"/>
          </a:xfrm>
          <a:prstGeom xmlns:a="http://schemas.openxmlformats.org/drawingml/2006/main" prst="roundRect">
            <a:avLst>
              <a:gd name="adj" fmla="val 1887"/>
            </a:avLst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D34D00-81F5-44FC-BA45-BF140E35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52575"/>
            <a:ext cx="990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Finance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E6C64F-6DC2-45DB-BEB0-7662E320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050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可审计的多源股票研究智能体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73C7CE-DB28-43E5-8A9F-B9827E99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0">
                <a:solidFill>
                  <a:srgbClr val="E7F0F8"/>
                </a:solidFill>
              </a:defRPr>
            </a:pPr>
            <a:r>
              <a:rPr sz="1650" b="0">
                <a:solidFill>
                  <a:srgbClr val="E7F0F8"/>
                </a:solidFill>
              </a:rPr>
              <a:t>真实工具 · 多源证据 · 多智能体辩论 · 可回评预测 · 安全边界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630180-3CF2-40BC-AD27-590BC663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1485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11820"/>
                </a:solidFill>
              </a:defRPr>
            </a:pPr>
            <a:r>
              <a:rPr sz="2025" b="1">
                <a:solidFill>
                  <a:srgbClr val="111820"/>
                </a:solidFill>
              </a:rPr>
              <a:t>模型负责理解与编排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7DCC0A-C653-4F8C-BFBF-E0540E43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448175"/>
            <a:ext cx="647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 b="1">
                <a:solidFill>
                  <a:srgbClr val="00A6B2"/>
                </a:solidFill>
              </a:defRPr>
            </a:pPr>
            <a:r>
              <a:rPr sz="2850" b="1">
                <a:solidFill>
                  <a:srgbClr val="00A6B2"/>
                </a:solidFill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6F2CE5-27A5-4BB5-99A9-CFCF205F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1485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11820"/>
                </a:solidFill>
              </a:defRPr>
            </a:pPr>
            <a:r>
              <a:rPr sz="2025" b="1">
                <a:solidFill>
                  <a:srgbClr val="111820"/>
                </a:solidFill>
              </a:rPr>
              <a:t>程序负责数据、计算与约束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B6DB71-0290-4340-97FF-B39D88A9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391150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03F7D"/>
                </a:solidFill>
              </a:defRPr>
            </a:pPr>
            <a:r>
              <a:rPr sz="1650" b="1">
                <a:solidFill>
                  <a:srgbClr val="003F7D"/>
                </a:solidFill>
              </a:rPr>
              <a:t>李宇航 · 童泽远 · 马玉玺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E3B5DF-5380-475B-B254-0830E162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102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36273"/>
                </a:solidFill>
              </a:defRPr>
            </a:pPr>
            <a:r>
              <a:rPr sz="1275" b="0">
                <a:solidFill>
                  <a:srgbClr val="536273"/>
                </a:solidFill>
              </a:rPr>
              <a:t>人工智能前沿实践 · 课程项目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547966-606D-43AA-8B8E-E338E8F7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CE5D26-1A59-42DE-AED1-7FFEF35A1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722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1 / 10</a:t>
            </a:r>
          </a:p>
        </p:txBody>
      </p:sp>
    </p:spTree>
    <p:extLst>
      <p:ext uri="{BB962C8B-B14F-4D97-AF65-F5344CB8AC3E}">
        <p14:creationId xmlns:p14="http://schemas.microsoft.com/office/powerpoint/2010/main" val="14100436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0267ac80c4473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7ED3D-28A7-4C63-BE89-CBF95589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A2B241-424D-45F7-8948-CED361D1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136681-B3DA-43CD-B0D9-2C95BF8C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浙江大学  ZHEJIANG UNIVERSITY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FE9CC-5839-486C-BAAB-412EB4D2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62F57-3315-467B-B96C-A1CDB4A5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1475"/>
            <a:ext cx="12192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FA3A58-45BB-4B56-B165-01F55CB7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87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股票研究的难点不是“不会回答”，而是“回答无法核验”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C972E6-7591-4DE6-AC24-1A45F2AB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AD62DA-35FC-47C1-A6A9-B8DA9743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534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52F2F-1863-424B-B876-AA039666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53415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D8153F-115A-4978-A988-69E93D5A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5722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Finance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96496F-E810-4CFF-AAF9-0E779ABD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72250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research only · facts / inference / risk · no auto trading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222EAF-A26E-4F2F-BAB6-4D6F5220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722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2 /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70EA5C-BFE8-46CC-B389-B5385F91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3429000" cy="371475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097561-43D3-40B8-B1D3-A9738537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666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483A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8AC513-DBD9-4C5D-84DB-5AE3A9A59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5483A"/>
                </a:solidFill>
              </a:defRPr>
            </a:pPr>
            <a:r>
              <a:rPr sz="2100" b="1">
                <a:solidFill>
                  <a:srgbClr val="C5483A"/>
                </a:solidFill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8AC881-3388-46DA-A2EF-0B445725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811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5483A"/>
                </a:solidFill>
              </a:defRPr>
            </a:pPr>
            <a:r>
              <a:rPr sz="1725" b="1">
                <a:solidFill>
                  <a:srgbClr val="C5483A"/>
                </a:solidFill>
              </a:rPr>
              <a:t>数据会过时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58074D-9549-4E5E-B374-00A81532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33600"/>
            <a:ext cx="29718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行情、财报和新闻持续变化。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模型参数中的知识不能代替实时查询。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后果：引用旧价格、旧事件或错误上市状态。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B0FB97-1721-4E2B-B4E2-22F3E40A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390650"/>
            <a:ext cx="3429000" cy="371475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8A2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E025A7-F3D7-4C40-A674-A9F39507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390650"/>
            <a:ext cx="666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8A22"/>
          </a:solidFill>
          <a:ln xmlns:a="http://schemas.openxmlformats.org/drawingml/2006/main" w="9525">
            <a:solidFill>
              <a:srgbClr val="D88A2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F9123B-95BC-47F8-AEB5-2A0BAB47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5811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D88A22"/>
                </a:solidFill>
              </a:defRPr>
            </a:pPr>
            <a:r>
              <a:rPr sz="2100" b="1">
                <a:solidFill>
                  <a:srgbClr val="D88A22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0761A7-BE55-4C99-8CD4-B562F500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811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D88A22"/>
                </a:solidFill>
              </a:defRPr>
            </a:pPr>
            <a:r>
              <a:rPr sz="1725" b="1">
                <a:solidFill>
                  <a:srgbClr val="D88A22"/>
                </a:solidFill>
              </a:rPr>
              <a:t>来源会缺失或冲突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922A53-C292-4CA9-8CB7-02473B75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133600"/>
            <a:ext cx="29718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免费接口可能限流，字段口径也并不一致。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单一来源成功，不等于数字已经被交叉验证。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后果：完整外观掩盖证据缺口。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D3AF8E-4380-4542-9A0C-8B992D47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390650"/>
            <a:ext cx="3429000" cy="371475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CA6683-D141-414F-849C-B621EF0B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390650"/>
            <a:ext cx="666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C11732-0C0D-44A3-8088-822D4F33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5811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03F7D"/>
                </a:solidFill>
              </a:defRPr>
            </a:pPr>
            <a:r>
              <a:rPr sz="2100" b="1">
                <a:solidFill>
                  <a:srgbClr val="003F7D"/>
                </a:solidFill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0AA903-3D2F-442D-B61D-9395B155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811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03F7D"/>
                </a:solidFill>
              </a:defRPr>
            </a:pPr>
            <a:r>
              <a:rPr sz="1725" b="1">
                <a:solidFill>
                  <a:srgbClr val="003F7D"/>
                </a:solidFill>
              </a:rPr>
              <a:t>模型会过度自信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BD507E-4A69-41C6-A7DB-7D46F927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33600"/>
            <a:ext cx="29718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单模型容易沿着最先形成的叙事继续推理。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工具结果很多，也可能引用错数字或忽略反例。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后果：结论强度超过证据强度。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716E4A-A809-44BC-A75B-A9A84FFC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48300"/>
            <a:ext cx="97917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CBD8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840D65-02E1-4E7C-816C-B91D5087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007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002B55"/>
                </a:solidFill>
              </a:defRPr>
            </a:pPr>
            <a:r>
              <a:rPr sz="1575" b="1">
                <a:solidFill>
                  <a:srgbClr val="002B55"/>
                </a:solidFill>
              </a:rPr>
              <a:t>目标不是让模型记住更多金融知识，而是让它查到、核对、引用，并在证据不足时降低结论强度。</a:t>
            </a:r>
          </a:p>
        </p:txBody>
      </p:sp>
    </p:spTree>
    <p:extLst>
      <p:ext uri="{BB962C8B-B14F-4D97-AF65-F5344CB8AC3E}">
        <p14:creationId xmlns:p14="http://schemas.microsoft.com/office/powerpoint/2010/main" val="16835350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bef9e6d334ac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153281-2991-490A-8DAA-783EF8A4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2D7919-31E9-4FC0-975C-1C0660CE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3F26ED-9AE9-4F0B-9F28-E521FDA3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浙江大学  ZHEJIANG UNIVERSITY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DD0607-C8D7-4F1A-AB16-155F3A72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A6E5F3-AE21-4E58-A2BE-D0C975D4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1475"/>
            <a:ext cx="12192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BB9976-7FA6-4E78-B75D-ABA8D464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87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模型做决策，工具拿证据，程序守边界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7E634-2640-4A2F-8CF3-0813914D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6AC9B-4FB6-40BE-8D98-A8EB916F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534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8C13DF-90A8-417C-8886-3194F4E0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53415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5F0B3C-5B94-42C3-BA64-AB35727B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5722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Finance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152144-B874-4B17-860D-7BEA56B3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72250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research only · facts / inference / risk · no auto trading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36D906-E7A4-4474-9F6A-E80AE19F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722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3 /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19837E-E641-4ABE-AD45-7208C53E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619250" cy="10287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2BE668-A00F-43DC-9574-521B1282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1390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2B55"/>
                </a:solidFill>
              </a:defRPr>
            </a:pPr>
            <a:r>
              <a:rPr sz="1500" b="1">
                <a:solidFill>
                  <a:srgbClr val="002B55"/>
                </a:solidFill>
              </a:rPr>
              <a:t>用户问题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F1464-ACFD-4021-9E40-23D09CA7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76375"/>
            <a:ext cx="2095500" cy="10287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CEF5BE-B5EA-4A67-B48E-4A86D609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63830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2B55"/>
                </a:solidFill>
              </a:defRPr>
            </a:pPr>
            <a:r>
              <a:rPr sz="1500" b="1">
                <a:solidFill>
                  <a:srgbClr val="002B55"/>
                </a:solidFill>
              </a:rPr>
              <a:t>AgentLoop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2B55"/>
                </a:solidFill>
              </a:defRPr>
            </a:pPr>
            <a:r>
              <a:rPr sz="1500" b="1">
                <a:solidFill>
                  <a:srgbClr val="002B55"/>
                </a:solidFill>
              </a:rPr>
              <a:t>理解 + 工具选择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275904-F6F1-4B87-A592-3D375177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476375"/>
            <a:ext cx="2095500" cy="10287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E8F7F7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70A986-BF34-4ABF-A3F1-4079C3AD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63830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2B55"/>
                </a:solidFill>
              </a:defRPr>
            </a:pPr>
            <a:r>
              <a:rPr sz="1500" b="1">
                <a:solidFill>
                  <a:srgbClr val="002B55"/>
                </a:solidFill>
              </a:rPr>
              <a:t>ToolRegistry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2B55"/>
                </a:solidFill>
              </a:defRPr>
            </a:pPr>
            <a:r>
              <a:rPr sz="1500" b="1">
                <a:solidFill>
                  <a:srgbClr val="002B55"/>
                </a:solidFill>
              </a:rPr>
              <a:t>金融 / Web / 文件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FF47C4-C921-4110-8039-19455308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76375"/>
            <a:ext cx="2095500" cy="10287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5E7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4899C0-56D3-4F0E-94D2-ABF80729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3830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2B55"/>
                </a:solidFill>
              </a:defRPr>
            </a:pPr>
            <a:r>
              <a:rPr sz="1500" b="1">
                <a:solidFill>
                  <a:srgbClr val="002B55"/>
                </a:solidFill>
              </a:rPr>
              <a:t>ProviderChain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2B55"/>
                </a:solidFill>
              </a:defRPr>
            </a:pPr>
            <a:r>
              <a:rPr sz="1500" b="1">
                <a:solidFill>
                  <a:srgbClr val="002B55"/>
                </a:solidFill>
              </a:rPr>
              <a:t>Yahoo / AKShare / Tushare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FA26AC-B7A5-4B37-8189-61E7F0B5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476375"/>
            <a:ext cx="2381250" cy="10287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0F7F3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41EC4C-2D06-45E7-BD98-35915008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63830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2B55"/>
                </a:solidFill>
              </a:defRPr>
            </a:pPr>
            <a:r>
              <a:rPr sz="1500" b="1">
                <a:solidFill>
                  <a:srgbClr val="002B55"/>
                </a:solidFill>
              </a:rPr>
              <a:t>统一证据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2B55"/>
                </a:solidFill>
              </a:defRPr>
            </a:pPr>
            <a:r>
              <a:rPr sz="1500" b="1">
                <a:solidFill>
                  <a:srgbClr val="002B55"/>
                </a:solidFill>
              </a:rPr>
              <a:t>指标 + QualityGate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BFF4B3-4298-4C9A-AF09-4FDDD854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724025"/>
            <a:ext cx="342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A6B2"/>
                </a:solidFill>
              </a:defRPr>
            </a:pPr>
            <a:r>
              <a:rPr sz="2250" b="1">
                <a:solidFill>
                  <a:srgbClr val="00A6B2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7E4C56-533A-4B5A-A733-3801C33F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24025"/>
            <a:ext cx="342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A6B2"/>
                </a:solidFill>
              </a:defRPr>
            </a:pPr>
            <a:r>
              <a:rPr sz="2250" b="1">
                <a:solidFill>
                  <a:srgbClr val="00A6B2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F4C9C1-DA25-4D95-A2DA-E3D1896A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342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A6B2"/>
                </a:solidFill>
              </a:defRPr>
            </a:pPr>
            <a:r>
              <a:rPr sz="2250" b="1">
                <a:solidFill>
                  <a:srgbClr val="00A6B2"/>
                </a:solidFill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BB593B-541E-473C-B5A1-CCDC99B9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24025"/>
            <a:ext cx="342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0A6B2"/>
                </a:solidFill>
              </a:defRPr>
            </a:pPr>
            <a:r>
              <a:rPr sz="2250" b="1">
                <a:solidFill>
                  <a:srgbClr val="00A6B2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CE3AC7-BF4B-4004-BFC8-4F5789AB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0439400" cy="161925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8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D99FD5-B23C-486E-BECF-630FBD8A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03F7D"/>
                </a:solidFill>
              </a:defRPr>
            </a:pPr>
            <a:r>
              <a:rPr sz="1575" b="1">
                <a:solidFill>
                  <a:srgbClr val="003F7D"/>
                </a:solidFill>
              </a:rPr>
              <a:t>扩展能力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BE2B8E-BAFF-45A6-A582-895E6358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71850"/>
            <a:ext cx="243840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03F7D">
              <a:alpha val="9412"/>
            </a:srgbClr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207246-5EBD-42B2-BC1D-1D1BA945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909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03F7D"/>
                </a:solidFill>
              </a:defRPr>
            </a:pPr>
            <a:r>
              <a:rPr sz="1125" b="1">
                <a:solidFill>
                  <a:srgbClr val="003F7D"/>
                </a:solidFill>
              </a:rPr>
              <a:t>Skills：按需加载领域流程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EF9D60-82EB-47B3-A845-672603DD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71850"/>
            <a:ext cx="236220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0A6B2">
              <a:alpha val="9412"/>
            </a:srgbClr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55700E-82DC-4CE5-BB67-F7EDE509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90900"/>
            <a:ext cx="2209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0A6B2"/>
                </a:solidFill>
              </a:defRPr>
            </a:pPr>
            <a:r>
              <a:rPr sz="1125" b="1">
                <a:solidFill>
                  <a:srgbClr val="00A6B2"/>
                </a:solidFill>
              </a:rPr>
              <a:t>MCP：透明接入外部工具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F90CFB-5C02-434A-88F4-4E7C04FE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371850"/>
            <a:ext cx="247650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2D7D67">
              <a:alpha val="9412"/>
            </a:srgbClr>
          </a:solidFill>
          <a:ln xmlns:a="http://schemas.openxmlformats.org/drawingml/2006/main" w="9525">
            <a:solidFill>
              <a:srgbClr val="2D7D6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0FB0F2-C15F-4CBC-82A9-3474294E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3909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D7D67"/>
                </a:solidFill>
              </a:defRPr>
            </a:pPr>
            <a:r>
              <a:rPr sz="1125" b="1">
                <a:solidFill>
                  <a:srgbClr val="2D7D67"/>
                </a:solidFill>
              </a:rPr>
              <a:t>Memory：跨会话项目约定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EC3861-4239-4F9B-88CC-015E2B55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00500"/>
            <a:ext cx="969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11820"/>
                </a:solidFill>
              </a:defRPr>
            </a:pPr>
            <a:r>
              <a:rPr sz="1500" b="0">
                <a:solidFill>
                  <a:srgbClr val="111820"/>
                </a:solidFill>
              </a:rPr>
              <a:t>所有工具调用都先经过权限判定；工具异常被写回 observation，模型可根据报错换路，而不是让主循环直接崩溃。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36EC18-2AF4-4A7E-B011-0DEBC2BC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276850"/>
            <a:ext cx="845820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EDEC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BC5F89-43AA-44BD-9C0B-42279E44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41020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5483A"/>
                </a:solidFill>
              </a:defRPr>
            </a:pPr>
            <a:r>
              <a:rPr sz="1800" b="1">
                <a:solidFill>
                  <a:srgbClr val="C5483A"/>
                </a:solidFill>
              </a:rPr>
              <a:t>安全层位于“模型决定调用”和“工具真正执行”之间</a:t>
            </a:r>
          </a:p>
        </p:txBody>
      </p:sp>
    </p:spTree>
    <p:extLst>
      <p:ext uri="{BB962C8B-B14F-4D97-AF65-F5344CB8AC3E}">
        <p14:creationId xmlns:p14="http://schemas.microsoft.com/office/powerpoint/2010/main" val="11615661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6260899b7418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D8F355-BFC2-49C0-B526-371AA475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206684-DC58-4484-BE42-EED6FE19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8ADD4-0648-4E87-AA57-88BE3093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浙江大学  ZHEJIANG UNIVERSITY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DE2F8-B2E0-4808-A3C7-89723696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5886D5-52E0-4992-9C4E-087B4D80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1475"/>
            <a:ext cx="12192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F89252-39C4-4C15-968A-EF3F1D1C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87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多源设计的重点不是“源多”，而是失败时不编数字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69E34C-E359-4468-8F9B-DFD588F9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3C813A-EAB3-44A3-B67F-EC0B6110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534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732108-06BD-443A-9B56-B22BAE38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53415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847679-69A8-45BA-943C-AFE3CB05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5722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Finance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4CF564-DD0A-4ABE-A72A-0A2DD96F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72250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research only · facts / inference / risk · no auto trading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DB44FF-6392-4524-9242-86DEF4CD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722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4 /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459B0B-E98D-4FD8-897F-0A50056C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0492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03F7D"/>
                </a:solidFill>
              </a:defRPr>
            </a:pPr>
            <a:r>
              <a:rPr sz="1725" b="1">
                <a:solidFill>
                  <a:srgbClr val="003F7D"/>
                </a:solidFill>
              </a:rPr>
              <a:t>真实数据链路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7954EF-FB14-425E-A33C-A244CC66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19431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5CD3E4-D960-4368-9641-33802925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03F7D"/>
                </a:solidFill>
              </a:defRPr>
            </a:pPr>
            <a:r>
              <a:rPr sz="1650" b="1">
                <a:solidFill>
                  <a:srgbClr val="003F7D"/>
                </a:solidFill>
              </a:rPr>
              <a:t>Yahoo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349574-7D5E-4131-AB7C-3E400DE9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行情 · 历史 · 新闻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046194-4C29-498F-ACC2-0C412D94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52600"/>
            <a:ext cx="19431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7F7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D5177D-11C4-4333-A8D8-BEA97332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85950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0A6B2"/>
                </a:solidFill>
              </a:defRPr>
            </a:pPr>
            <a:r>
              <a:rPr sz="1650" b="1">
                <a:solidFill>
                  <a:srgbClr val="00A6B2"/>
                </a:solidFill>
              </a:rPr>
              <a:t>AKShare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87ED85-19AA-455B-A28F-3205352F5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669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A / 港 / 美财务补齐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264F77-E8F7-4450-92B9-2B7732AC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52600"/>
            <a:ext cx="19431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EA595C-4896-4F54-9BD1-D36A7803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03F7D"/>
                </a:solidFill>
              </a:defRPr>
            </a:pPr>
            <a:r>
              <a:rPr sz="1650" b="1">
                <a:solidFill>
                  <a:srgbClr val="003F7D"/>
                </a:solidFill>
              </a:rPr>
              <a:t>Tushare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63E644-5BC9-46A5-8C7B-67340B16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669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A 股财报（需 token）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919D48-7FD5-4867-83A8-9A902214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52600"/>
            <a:ext cx="19431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7F7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A6A190-8DDB-484A-83AC-DA3FD691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85950"/>
            <a:ext cx="1638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0A6B2"/>
                </a:solidFill>
              </a:defRPr>
            </a:pPr>
            <a:r>
              <a:rPr sz="1650" b="1">
                <a:solidFill>
                  <a:srgbClr val="00A6B2"/>
                </a:solidFill>
              </a:rPr>
              <a:t>yfinance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035F49-0A34-4EB1-96C8-71046CB6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6695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Yahoo 失败后的兼容回退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C577AB-7461-42C0-A770-2DD1FBC6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71675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00A6B2"/>
                </a:solidFill>
              </a:defRPr>
            </a:pPr>
            <a:r>
              <a:rPr sz="2400" b="1">
                <a:solidFill>
                  <a:srgbClr val="00A6B2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9BFF2D-17D5-46B5-BEF9-FEA2BE06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52600"/>
            <a:ext cx="20193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0F7F3"/>
          </a:solidFill>
          <a:ln xmlns:a="http://schemas.openxmlformats.org/drawingml/2006/main" w="9525">
            <a:solidFill>
              <a:srgbClr val="2D7D6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920FF6-433F-47C4-B6E5-36755F18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85950"/>
            <a:ext cx="1752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D7D67"/>
                </a:solidFill>
              </a:defRPr>
            </a:pPr>
            <a:r>
              <a:rPr sz="1500" b="1">
                <a:solidFill>
                  <a:srgbClr val="2D7D67"/>
                </a:solidFill>
              </a:rPr>
              <a:t>StockSnapshot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F29132-E4B2-4941-8E3F-BF27C262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6695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统一口径 + coverage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ED8857-9F4F-41C8-B1CE-EFA7DFD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5219700" cy="2724150"/>
          </a:xfrm>
          <a:prstGeom xmlns:a="http://schemas.openxmlformats.org/drawingml/2006/main" prst="roundRect">
            <a:avLst>
              <a:gd name="adj" fmla="val 20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D23BE5-36A0-4DC8-82CE-35F83B2A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3F7D"/>
                </a:solidFill>
              </a:defRPr>
            </a:pPr>
            <a:r>
              <a:rPr sz="1650" b="1">
                <a:solidFill>
                  <a:srgbClr val="003F7D"/>
                </a:solidFill>
              </a:rPr>
              <a:t>AAPL 实测记录 · 2026-07-14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48AA84-3C71-4597-9280-3D5CEA0F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4686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行情     317.31 USD，当日 +0.63%（Yahoo）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历史     251 点；MA20 299.19，MA60 293.91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动量     RSI14 64.16；近 3 月 +21.82%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风险     年化波动率 24.12%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财务     EPS 7.49；营收 416.16B（AKShare）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缺口     PE、自由现金流缺失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E84DAA-04AC-43B4-8074-19E760E9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91150"/>
            <a:ext cx="16192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88A22">
              <a:alpha val="9412"/>
            </a:srgbClr>
          </a:solidFill>
          <a:ln xmlns:a="http://schemas.openxmlformats.org/drawingml/2006/main" w="9525">
            <a:solidFill>
              <a:srgbClr val="D88A2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442E3E-3E09-4631-823F-F6FD687A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41020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88A22"/>
                </a:solidFill>
              </a:defRPr>
            </a:pPr>
            <a:r>
              <a:rPr sz="1125" b="1">
                <a:solidFill>
                  <a:srgbClr val="D88A22"/>
                </a:solidFill>
              </a:rPr>
              <a:t>QualityGate：B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65CD9C-1AA5-464E-A915-19C1002C0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05150"/>
            <a:ext cx="5448300" cy="2724150"/>
          </a:xfrm>
          <a:prstGeom xmlns:a="http://schemas.openxmlformats.org/drawingml/2006/main" prst="roundRect">
            <a:avLst>
              <a:gd name="adj" fmla="val 2098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CBD8E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EFEB2D-EBA6-4584-B117-BFA5F2BA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147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2B55"/>
                </a:solidFill>
              </a:defRPr>
            </a:pPr>
            <a:r>
              <a:rPr sz="1650" b="1">
                <a:solidFill>
                  <a:srgbClr val="002B55"/>
                </a:solidFill>
              </a:rPr>
              <a:t>降级原则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37347FE-1EE0-4D07-BB40-E6BB245A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0"/>
            <a:ext cx="3048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DA7D34-9866-40E3-8349-3A481ECB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994E7F-5BA3-4558-B5BA-3869BA25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11820"/>
                </a:solidFill>
              </a:defRPr>
            </a:pPr>
            <a:r>
              <a:rPr sz="1275" b="0">
                <a:solidFill>
                  <a:srgbClr val="111820"/>
                </a:solidFill>
              </a:rPr>
              <a:t>遍历适用真实来源，记录成功、失败与时间戳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0D33FF-D8EB-45C8-B6DA-9A4E7D9D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67200"/>
            <a:ext cx="3048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4F44B05-B1EC-4427-B98A-67164A12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672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6A5D35B-A884-4B09-B866-72203B2D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6720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11820"/>
                </a:solidFill>
              </a:defRPr>
            </a:pPr>
            <a:r>
              <a:rPr sz="1275" b="0">
                <a:solidFill>
                  <a:srgbClr val="111820"/>
                </a:solidFill>
              </a:rPr>
              <a:t>只在币种、报告期和口径兼容时补齐字段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8131208-D792-4DD9-AF2E-9C9F7042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24400"/>
            <a:ext cx="3048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468761E-1DAE-488E-940B-1B4EF4EB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244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783F15D-07D8-446D-9DA8-983C35C4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2440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11820"/>
                </a:solidFill>
              </a:defRPr>
            </a:pPr>
            <a:r>
              <a:rPr sz="1275" b="0">
                <a:solidFill>
                  <a:srgbClr val="111820"/>
                </a:solidFill>
              </a:rPr>
              <a:t>新闻先做标的相关性过滤，再去重与限量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1B0E8D1-DAFA-41A3-8CFC-B70B120BA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81600"/>
            <a:ext cx="30480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C5483A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877041-2ACE-40E1-884A-57CEF8AF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816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AB3CC59-9AD1-4955-85E0-64F64276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81600"/>
            <a:ext cx="436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C5483A"/>
                </a:solidFill>
              </a:defRPr>
            </a:pPr>
            <a:r>
              <a:rPr sz="1275" b="1">
                <a:solidFill>
                  <a:srgbClr val="C5483A"/>
                </a:solidFill>
              </a:rPr>
              <a:t>真实来源全部失败：明确写“缺”，不让模型补数</a:t>
            </a:r>
          </a:p>
        </p:txBody>
      </p:sp>
    </p:spTree>
    <p:extLst>
      <p:ext uri="{BB962C8B-B14F-4D97-AF65-F5344CB8AC3E}">
        <p14:creationId xmlns:p14="http://schemas.microsoft.com/office/powerpoint/2010/main" val="8137474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ea995722aa498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B70034-FD27-4C11-80DB-CA4FF916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D856D-771D-4603-989F-4D80A770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DD0AD-D9B7-4F15-9BBF-DCBBFC0F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浙江大学  ZHEJIANG UNIVERSITY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677085-7C9C-4DFC-90F2-86F3420F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BCF94A-92AB-4BBF-A19B-B7205CF3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1475"/>
            <a:ext cx="12192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36A7F4-D224-4EED-BEA4-C7200EF5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87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多智能体负责暴露分歧，质量门禁负责限制结论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80EA0D-675F-4099-9E7A-44971130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F307B-4706-4755-B39A-C185B2C7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534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C33D71-A4BA-4DDE-9C87-8770118C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53415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2E6D56-8376-4ACD-A325-CBE0DA32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5722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Finance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A9A66C-6297-48E4-A8D6-F2960677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72250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research only · facts / inference / risk · no auto trading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72AA39-1D49-4EC0-9C5B-1E785B64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722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5 /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FD5470-5535-4963-8522-8F0FF313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18097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D7D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267124-C62B-4026-B184-1756BA33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9725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D7D67"/>
                </a:solidFill>
              </a:defRPr>
            </a:pPr>
            <a:r>
              <a:rPr sz="1575" b="1">
                <a:solidFill>
                  <a:srgbClr val="2D7D67"/>
                </a:solidFill>
              </a:rPr>
              <a:t>Bull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91131B-E961-41FF-BFE9-1288FCB7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增长与正面驱动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76598F-A22D-4690-A631-123C5D57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47800"/>
            <a:ext cx="18097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7047C9-F2F2-4AFD-9192-E07F9656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609725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C5483A"/>
                </a:solidFill>
              </a:defRPr>
            </a:pPr>
            <a:r>
              <a:rPr sz="1575" b="1">
                <a:solidFill>
                  <a:srgbClr val="C5483A"/>
                </a:solidFill>
              </a:rPr>
              <a:t>Bear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D848D0-9D94-4ADE-89A8-D4CFECE7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38350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风险、反例与下行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978847-186F-4C56-AD46-1C42D7EB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47800"/>
            <a:ext cx="18097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DED9AB-6799-4EDA-91BB-BB627E96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9725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003F7D"/>
                </a:solidFill>
              </a:defRPr>
            </a:pPr>
            <a:r>
              <a:rPr sz="1575" b="1">
                <a:solidFill>
                  <a:srgbClr val="003F7D"/>
                </a:solidFill>
              </a:rPr>
              <a:t>Value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7398D0-35DB-469B-B1D4-7812C253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38350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估值与现金流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C70642-C490-4175-9F2C-46D74A2B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47800"/>
            <a:ext cx="18097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8A2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B3F322-5373-4378-828B-61CB488A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09725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D88A22"/>
                </a:solidFill>
              </a:defRPr>
            </a:pPr>
            <a:r>
              <a:rPr sz="1575" b="1">
                <a:solidFill>
                  <a:srgbClr val="D88A22"/>
                </a:solidFill>
              </a:rPr>
              <a:t>Macro / Risk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E37EDA-5068-4A03-9656-CA7A274D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38350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宏观与尾部风险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3D2DB3-8135-49B0-83C8-8C47E2D7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47800"/>
            <a:ext cx="18097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C257F0-0924-460D-BC78-FBA207F4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609725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00A6B2"/>
                </a:solidFill>
              </a:defRPr>
            </a:pPr>
            <a:r>
              <a:rPr sz="1575" b="1">
                <a:solidFill>
                  <a:srgbClr val="00A6B2"/>
                </a:solidFill>
              </a:rPr>
              <a:t>Anti-Bias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3156B8-3846-4B9B-8710-530DCDE7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38350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叙事与认知偏差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9D5556-1653-41E1-9853-CDAB46CA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4320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02B55"/>
                </a:solidFill>
              </a:defRPr>
            </a:pPr>
            <a:r>
              <a:rPr sz="1725" b="1">
                <a:solidFill>
                  <a:srgbClr val="002B55"/>
                </a:solidFill>
              </a:rPr>
              <a:t>同一份编号证据，各自独立分析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CA5E3A-91C2-4A16-B8AC-B48D9FA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05150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00A6B2"/>
                </a:solidFill>
              </a:defRPr>
            </a:pPr>
            <a:r>
              <a:rPr sz="2400" b="1">
                <a:solidFill>
                  <a:srgbClr val="00A6B2"/>
                </a:solidFill>
              </a:rPr>
              <a:t>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28792F-84FD-47B0-A0EF-E632EDBF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3028950" cy="12382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0F7F3"/>
          </a:solidFill>
          <a:ln xmlns:a="http://schemas.openxmlformats.org/drawingml/2006/main" w="9525">
            <a:solidFill>
              <a:srgbClr val="2D7D6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CA5334-704B-4CCC-AA85-9D2C73CC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2609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2D7D67"/>
                </a:solidFill>
              </a:defRPr>
            </a:pPr>
            <a:r>
              <a:rPr sz="1650" b="1">
                <a:solidFill>
                  <a:srgbClr val="2D7D67"/>
                </a:solidFill>
              </a:rPr>
              <a:t>Bull / Bear 交叉反驳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4ADE40-4695-4BC0-9672-709F32FC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05300"/>
            <a:ext cx="2533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36273"/>
                </a:solidFill>
              </a:defRPr>
            </a:pPr>
            <a:r>
              <a:rPr sz="1275" b="0">
                <a:solidFill>
                  <a:srgbClr val="536273"/>
                </a:solidFill>
              </a:rPr>
              <a:t>把冲突显式化，不让共识提前形成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87F06A-6994-4A31-9D9B-C2F95C61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98145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00A6B2"/>
                </a:solidFill>
              </a:defRPr>
            </a:pPr>
            <a:r>
              <a:rPr sz="2550" b="1">
                <a:solidFill>
                  <a:srgbClr val="00A6B2"/>
                </a:solidFill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9675F9-9851-4E70-AA3F-F2AAC844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38550"/>
            <a:ext cx="2571750" cy="12382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156532-C433-4B95-A7C2-A140D67C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8100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03F7D"/>
                </a:solidFill>
              </a:defRPr>
            </a:pPr>
            <a:r>
              <a:rPr sz="1650" b="1">
                <a:solidFill>
                  <a:srgbClr val="003F7D"/>
                </a:solidFill>
              </a:rPr>
              <a:t>Judge 综合判断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3C4236-D34E-4E0E-88AF-979E02D5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053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36273"/>
                </a:solidFill>
              </a:defRPr>
            </a:pPr>
            <a:r>
              <a:rPr sz="1275" b="0">
                <a:solidFill>
                  <a:srgbClr val="536273"/>
                </a:solidFill>
              </a:rPr>
              <a:t>输出共识、分歧、方向与依据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A392E1-6B41-45BF-BBFF-4C75C019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8145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00A6B2"/>
                </a:solidFill>
              </a:defRPr>
            </a:pPr>
            <a:r>
              <a:rPr sz="2550" b="1">
                <a:solidFill>
                  <a:srgbClr val="00A6B2"/>
                </a:solidFill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33685F-D8DE-4D82-8106-7A8318CA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38550"/>
            <a:ext cx="3105150" cy="12382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5E7"/>
          </a:solidFill>
          <a:ln xmlns:a="http://schemas.openxmlformats.org/drawingml/2006/main" w="9525">
            <a:solidFill>
              <a:srgbClr val="D88A2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E28667-703A-451B-9EA7-41462FA8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10000"/>
            <a:ext cx="2686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8A22"/>
                </a:solidFill>
              </a:defRPr>
            </a:pPr>
            <a:r>
              <a:rPr sz="1650" b="1">
                <a:solidFill>
                  <a:srgbClr val="D88A22"/>
                </a:solidFill>
              </a:rPr>
              <a:t>QualityGate 独立约束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DFACE12-CED7-4A95-9C1D-C6D67306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305300"/>
            <a:ext cx="2647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36273"/>
                </a:solidFill>
              </a:defRPr>
            </a:pPr>
            <a:r>
              <a:rPr sz="1275" b="0">
                <a:solidFill>
                  <a:srgbClr val="536273"/>
                </a:solidFill>
              </a:rPr>
              <a:t>缺失、单源或引用异常会压低把握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B7A1995-123F-4E72-9A4E-86281DE4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34000"/>
            <a:ext cx="868680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EDEC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63F5B49-095A-4831-87A0-1AE46616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46735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5483A"/>
                </a:solidFill>
              </a:defRPr>
            </a:pPr>
            <a:r>
              <a:rPr sz="1650" b="1">
                <a:solidFill>
                  <a:srgbClr val="C5483A"/>
                </a:solidFill>
              </a:rPr>
              <a:t>多一个 Agent 不等于多一份真相；价值在于反例更可见、结论强度受证据约束。</a:t>
            </a:r>
          </a:p>
        </p:txBody>
      </p:sp>
    </p:spTree>
    <p:extLst>
      <p:ext uri="{BB962C8B-B14F-4D97-AF65-F5344CB8AC3E}">
        <p14:creationId xmlns:p14="http://schemas.microsoft.com/office/powerpoint/2010/main" val="3682523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57af26d9e5402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0F8DCC-D6BF-4064-9C2F-613A8E66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E6763B-D619-4596-9200-08D0C510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B8D716-12D2-437A-8925-764C16DB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浙江大学  ZHEJIANG UNIVERSITY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30FB6-3466-49A1-9926-0A20C831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53E7C6-3181-4E1E-A1CC-5DF5F16D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1475"/>
            <a:ext cx="12192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27E12B-907E-4E6E-8998-27C3B478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87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记忆、规划和 trace 让长任务可持续、可恢复、可解释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581B71-A9A0-40BE-9077-3A0D03E5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16441F-9144-41AD-BD90-8283108E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534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7BAE93-1E4D-4455-894C-385339CD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53415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BC425A-0B30-4B19-85AE-8F60A580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5722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Finance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63EE6-33A9-439C-B5DF-D9E92D26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72250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research only · facts / inference / risk · no auto trading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1A1CD0-2198-4225-BFE4-2AB7F0F9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722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6 /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A5B6E4-D5F8-439E-8757-FF0ECF46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3238500" cy="2286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1C01FA-C99F-49E6-8D62-AAC72EB7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59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03F7D"/>
                </a:solidFill>
              </a:defRPr>
            </a:pPr>
            <a:r>
              <a:rPr sz="2250" b="1">
                <a:solidFill>
                  <a:srgbClr val="003F7D"/>
                </a:solidFill>
              </a:rPr>
              <a:t>D7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FD065C-D78B-4D75-913C-769E7AF0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526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3F7D"/>
                </a:solidFill>
              </a:defRPr>
            </a:pPr>
            <a:r>
              <a:rPr sz="1800" b="1">
                <a:solidFill>
                  <a:srgbClr val="003F7D"/>
                </a:solidFill>
              </a:rPr>
              <a:t>跨会话记忆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3A72C5-C802-4FE5-8CEB-5F7AEC866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66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MEMORY.md + KV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remember / set / forget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新进程召回并注入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D195DD-248D-4126-8CB8-D36AC577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04950"/>
            <a:ext cx="3238500" cy="2286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D7D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FE1C4E-918B-4214-9E41-F728FCB0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95450"/>
            <a:ext cx="59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2D7D67"/>
                </a:solidFill>
              </a:defRPr>
            </a:pPr>
            <a:r>
              <a:rPr sz="2250" b="1">
                <a:solidFill>
                  <a:srgbClr val="2D7D67"/>
                </a:solidFill>
              </a:rPr>
              <a:t>D8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7C7437-9920-4FED-8F20-35607AA9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7526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D7D67"/>
                </a:solidFill>
              </a:defRPr>
            </a:pPr>
            <a:r>
              <a:rPr sz="1800" b="1">
                <a:solidFill>
                  <a:srgbClr val="2D7D67"/>
                </a:solidFill>
              </a:rPr>
              <a:t>外部任务计划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7D2366-257E-4CD3-B69C-CEA765C7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66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复杂任务先建 task_list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完成一步立即更新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失败后增加替代路线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846793-6D4E-4D81-831B-08D8D539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04950"/>
            <a:ext cx="3238500" cy="2286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8A2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979D7B-E661-45A3-B000-600EBFECD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59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D88A22"/>
                </a:solidFill>
              </a:defRPr>
            </a:pPr>
            <a:r>
              <a:rPr sz="2250" b="1">
                <a:solidFill>
                  <a:srgbClr val="D88A22"/>
                </a:solidFill>
              </a:rPr>
              <a:t>D9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FD3D51-2414-492F-96DD-B6AB5846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7526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D88A22"/>
                </a:solidFill>
              </a:defRPr>
            </a:pPr>
            <a:r>
              <a:rPr sz="1800" b="1">
                <a:solidFill>
                  <a:srgbClr val="D88A22"/>
                </a:solidFill>
              </a:rPr>
              <a:t>可观测与成本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553163-EC0E-4368-930B-43381E11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00300"/>
            <a:ext cx="266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模型回合 + 工具 + 耗时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服务端 input / output token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显式单价后估算成本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90C52D-A66E-4080-946A-B2428777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10877550" cy="13335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CBD8E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71CEA5-0164-4E37-88C2-F00B1DC6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38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02B55"/>
                </a:solidFill>
              </a:defRPr>
            </a:pPr>
            <a:r>
              <a:rPr sz="1650" b="1">
                <a:solidFill>
                  <a:srgbClr val="002B55"/>
                </a:solidFill>
              </a:rPr>
              <a:t>现场验证链路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35FA8E-AAAB-468B-90EB-039E55B1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19600"/>
            <a:ext cx="20002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03F7D">
              <a:alpha val="9412"/>
            </a:srgbClr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1EADDA-4032-4993-A519-BBE25E85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4386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03F7D"/>
                </a:solidFill>
              </a:defRPr>
            </a:pPr>
            <a:r>
              <a:rPr sz="1125" b="1">
                <a:solidFill>
                  <a:srgbClr val="003F7D"/>
                </a:solidFill>
              </a:rPr>
              <a:t>/remember 长期约定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BDD4D8-1134-4F7B-8486-D60CFC7F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419600"/>
            <a:ext cx="2724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2D7D67">
              <a:alpha val="9412"/>
            </a:srgbClr>
          </a:solidFill>
          <a:ln xmlns:a="http://schemas.openxmlformats.org/drawingml/2006/main" w="9525">
            <a:solidFill>
              <a:srgbClr val="2D7D6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BF0269-303A-42C0-A199-24EA3345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4386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D7D67"/>
                </a:solidFill>
              </a:defRPr>
            </a:pPr>
            <a:r>
              <a:rPr sz="1125" b="1">
                <a:solidFill>
                  <a:srgbClr val="2D7D67"/>
                </a:solidFill>
              </a:rPr>
              <a:t>task_list：定位 → 分析 → 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8D6139-D575-4A29-92F3-FC2DDADB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19600"/>
            <a:ext cx="247650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88A22">
              <a:alpha val="9412"/>
            </a:srgbClr>
          </a:solidFill>
          <a:ln xmlns:a="http://schemas.openxmlformats.org/drawingml/2006/main" w="9525">
            <a:solidFill>
              <a:srgbClr val="D88A2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3481FF-37D1-47F7-BB03-83B2AEE2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88A22"/>
                </a:solidFill>
              </a:defRPr>
            </a:pPr>
            <a:r>
              <a:rPr sz="1125" b="1">
                <a:solidFill>
                  <a:srgbClr val="D88A22"/>
                </a:solidFill>
              </a:rPr>
              <a:t>/trace：回放步骤与 token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AC3694-F387-4CB6-B91C-D2235577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1015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5483A"/>
                </a:solidFill>
              </a:defRPr>
            </a:pPr>
            <a:r>
              <a:rPr sz="1500" b="1">
                <a:solidFill>
                  <a:srgbClr val="C5483A"/>
                </a:solidFill>
              </a:rPr>
              <a:t>错误 observation 不会让主循环崩溃：路径失败后更新 todo，用 glob 找到正确文件并继续。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74C4D-F55B-4F77-BA6A-B99BCEE5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86740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2B55"/>
                </a:solidFill>
              </a:defRPr>
            </a:pPr>
            <a:r>
              <a:rPr sz="1500" b="1">
                <a:solidFill>
                  <a:srgbClr val="002B55"/>
                </a:solidFill>
              </a:rPr>
              <a:t>这些状态都在对话之外留痕，所以能跨会话、跨模型回合被检查。</a:t>
            </a:r>
          </a:p>
        </p:txBody>
      </p:sp>
    </p:spTree>
    <p:extLst>
      <p:ext uri="{BB962C8B-B14F-4D97-AF65-F5344CB8AC3E}">
        <p14:creationId xmlns:p14="http://schemas.microsoft.com/office/powerpoint/2010/main" val="6227527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f9d700b710485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3C08A8-009A-4C0F-8F11-555A47DB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FA673A-670A-4DD7-AEFF-A3A6100C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3EFE74-5D81-4ECB-8E4F-E60D3411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浙江大学  ZHEJIANG UNIVERSITY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0933F2-31DD-4DA7-879A-2CAA98A9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C9B57B-8B67-4C3D-887E-1512D0CE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1475"/>
            <a:ext cx="12192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FAA8E-980E-4ACA-82B3-50AE999C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87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研究能力可以扩展，但交易与外传必须受控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10AF50-1898-4B67-B39A-6342E0A5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61B90-1198-4FFC-9964-E8994690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534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17C6DD-023E-46E6-9CBB-FD0FF1E9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53415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4E7036-1CF6-40C4-AC13-BBA0F25C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5722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Finance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7F1228-8671-4440-93C6-6A7AA843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72250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research only · facts / inference / risk · no auto trading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BB08A-943B-4C77-9D16-EF51AC63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722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7 /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44BEC2-5E7F-4F5D-82B2-B2161152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3409950" cy="2266950"/>
          </a:xfrm>
          <a:prstGeom xmlns:a="http://schemas.openxmlformats.org/drawingml/2006/main" prst="roundRect">
            <a:avLst>
              <a:gd name="adj" fmla="val 2521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7BAD7-AD21-4F9F-A5F3-E6D8EC54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66675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C2BA52-67C4-4DF9-A005-D85E472D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03F7D"/>
                </a:solidFill>
              </a:defRPr>
            </a:pPr>
            <a:r>
              <a:rPr sz="2100" b="1">
                <a:solidFill>
                  <a:srgbClr val="003F7D"/>
                </a:solidFill>
              </a:rPr>
              <a:t>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70657F-59AE-43BE-906F-A77745A1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81150"/>
            <a:ext cx="2419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03F7D"/>
                </a:solidFill>
              </a:defRPr>
            </a:pPr>
            <a:r>
              <a:rPr sz="1725" b="1">
                <a:solidFill>
                  <a:srgbClr val="003F7D"/>
                </a:solidFill>
              </a:rPr>
              <a:t>权限分层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A446A1-28BA-44B0-B9C5-B1955A81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33600"/>
            <a:ext cx="2952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只读工具自动放行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写入限制在工作区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执行与外传必须确认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05757B-5E83-48E9-B9B9-6397C723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1390650"/>
            <a:ext cx="3409950" cy="2266950"/>
          </a:xfrm>
          <a:prstGeom xmlns:a="http://schemas.openxmlformats.org/drawingml/2006/main" prst="roundRect">
            <a:avLst>
              <a:gd name="adj" fmla="val 2521"/>
            </a:avLst>
          </a:prstGeom>
          <a:solidFill xmlns:a="http://schemas.openxmlformats.org/drawingml/2006/main">
            <a:srgbClr val="E8F7F7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F3E12A-BED6-4F74-B4DB-959E8592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1390650"/>
            <a:ext cx="66675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CD75BF-F1B9-481A-830B-90C5E6A0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5811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0A6B2"/>
                </a:solidFill>
              </a:defRPr>
            </a:pPr>
            <a:r>
              <a:rPr sz="2100" b="1">
                <a:solidFill>
                  <a:srgbClr val="00A6B2"/>
                </a:solidFill>
              </a:rPr>
              <a:t>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E33D9D-A9F8-455F-B4B2-CEB8DB15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581150"/>
            <a:ext cx="2419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0A6B2"/>
                </a:solidFill>
              </a:defRPr>
            </a:pPr>
            <a:r>
              <a:rPr sz="1725" b="1">
                <a:solidFill>
                  <a:srgbClr val="00A6B2"/>
                </a:solidFill>
              </a:rPr>
              <a:t>注入隔离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88EF8A-2B02-441A-AFAC-C8657AD4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133600"/>
            <a:ext cx="2952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文件与网页标记为不可信数据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外部文本不能升级为系统指令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敏感路径与 secret 写入被拦截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8CB8D7-AD80-40D7-A106-C3466EAE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90650"/>
            <a:ext cx="3409950" cy="2266950"/>
          </a:xfrm>
          <a:prstGeom xmlns:a="http://schemas.openxmlformats.org/drawingml/2006/main" prst="roundRect">
            <a:avLst>
              <a:gd name="adj" fmla="val 2521"/>
            </a:avLst>
          </a:prstGeom>
          <a:solidFill xmlns:a="http://schemas.openxmlformats.org/drawingml/2006/main">
            <a:srgbClr val="FBEDEC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E26C58-1BFF-4D4F-BFA8-64CC1F9A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90650"/>
            <a:ext cx="66675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483A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247166-23BA-40D8-B7A9-11B5320B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811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5483A"/>
                </a:solidFill>
              </a:defRPr>
            </a:pPr>
            <a:r>
              <a:rPr sz="2100" b="1">
                <a:solidFill>
                  <a:srgbClr val="C5483A"/>
                </a:solidFill>
              </a:rPr>
              <a:t>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BB27B6-C39A-4189-B96E-57612906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81150"/>
            <a:ext cx="2419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5483A"/>
                </a:solidFill>
              </a:defRPr>
            </a:pPr>
            <a:r>
              <a:rPr sz="1725" b="1">
                <a:solidFill>
                  <a:srgbClr val="C5483A"/>
                </a:solidFill>
              </a:rPr>
              <a:t>副作用控制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E959A3-61A0-4F86-936D-E02BC009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33600"/>
            <a:ext cx="2952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危险 shell 命令默认拒绝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微信默认 dry-run 本地 outbox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真实下单在主循环中确定性拒绝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720393-CF22-464B-A6CA-DEEEDF65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02B55"/>
                </a:solidFill>
              </a:defRPr>
            </a:pPr>
            <a:r>
              <a:rPr sz="1725" b="1">
                <a:solidFill>
                  <a:srgbClr val="002B55"/>
                </a:solidFill>
              </a:rPr>
              <a:t>红队用例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860453-25DF-4845-8850-6689433E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3429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73424C-E17F-4B50-A5F6-F0630F9B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5483A"/>
                </a:solidFill>
              </a:defRPr>
            </a:pPr>
            <a:r>
              <a:rPr sz="1125" b="1">
                <a:solidFill>
                  <a:srgbClr val="C5483A"/>
                </a:solidFill>
              </a:rPr>
              <a:t>BLOCKED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F016F3-EDC8-41F3-9124-7FE665D3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533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111820"/>
                </a:solidFill>
              </a:defRPr>
            </a:pPr>
            <a:r>
              <a:rPr sz="1425" b="1">
                <a:solidFill>
                  <a:srgbClr val="111820"/>
                </a:solidFill>
              </a:rPr>
              <a:t>越权执行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B8192B-C516-4915-84CD-41146652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57700"/>
            <a:ext cx="3429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8A2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52251E-22CE-4888-A026-79C62898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5529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8A22"/>
                </a:solidFill>
              </a:defRPr>
            </a:pPr>
            <a:r>
              <a:rPr sz="1125" b="1">
                <a:solidFill>
                  <a:srgbClr val="D88A22"/>
                </a:solidFill>
              </a:rPr>
              <a:t>BLOCKED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9BC7F5-B2A7-4BD7-B438-D0BE66E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533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111820"/>
                </a:solidFill>
              </a:defRPr>
            </a:pPr>
            <a:r>
              <a:rPr sz="1425" b="1">
                <a:solidFill>
                  <a:srgbClr val="111820"/>
                </a:solidFill>
              </a:rPr>
              <a:t>提示注入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54FC33-ADDE-40D4-B6F7-AE756405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57700"/>
            <a:ext cx="3429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D09DD6-2429-4866-881A-F2415D7F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529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5483A"/>
                </a:solidFill>
              </a:defRPr>
            </a:pPr>
            <a:r>
              <a:rPr sz="1125" b="1">
                <a:solidFill>
                  <a:srgbClr val="C5483A"/>
                </a:solidFill>
              </a:rPr>
              <a:t>BLOCKED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FF3404-ED77-4F3B-835E-857C6A50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533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111820"/>
                </a:solidFill>
              </a:defRPr>
            </a:pPr>
            <a:r>
              <a:rPr sz="1425" b="1">
                <a:solidFill>
                  <a:srgbClr val="111820"/>
                </a:solidFill>
              </a:rPr>
              <a:t>数据泄露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E58887-F02D-44BD-B98A-97CA2485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86350"/>
            <a:ext cx="3429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0D1E2C-3498-4386-BEE4-592A47F7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816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A6B2"/>
                </a:solidFill>
              </a:defRPr>
            </a:pPr>
            <a:r>
              <a:rPr sz="1125" b="1">
                <a:solidFill>
                  <a:srgbClr val="00A6B2"/>
                </a:solidFill>
              </a:rPr>
              <a:t>BLOCKED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7A225F-5A6A-4839-9F11-2668D162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1625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111820"/>
                </a:solidFill>
              </a:defRPr>
            </a:pPr>
            <a:r>
              <a:rPr sz="1425" b="1">
                <a:solidFill>
                  <a:srgbClr val="111820"/>
                </a:solidFill>
              </a:rPr>
              <a:t>出站外传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EEEEE6D-5DA9-4DD0-A25E-9E89EB96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086350"/>
            <a:ext cx="3429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38746FD-1E9E-4A9F-B70E-5A017CEC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816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3F7D"/>
                </a:solidFill>
              </a:defRPr>
            </a:pPr>
            <a:r>
              <a:rPr sz="1125" b="1">
                <a:solidFill>
                  <a:srgbClr val="003F7D"/>
                </a:solidFill>
              </a:rPr>
              <a:t>BLOCKED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3DAFCD-76E5-4391-8510-B2908403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1625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111820"/>
                </a:solidFill>
              </a:defRPr>
            </a:pPr>
            <a:r>
              <a:rPr sz="1425" b="1">
                <a:solidFill>
                  <a:srgbClr val="111820"/>
                </a:solidFill>
              </a:rPr>
              <a:t>越界写入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EE3AFA-B665-437C-9F90-00B9D808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086350"/>
            <a:ext cx="3429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D7D6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BA878B-52DE-4CF6-8765-170DE6C8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816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D7D67"/>
                </a:solidFill>
              </a:defRPr>
            </a:pPr>
            <a:r>
              <a:rPr sz="1125" b="1">
                <a:solidFill>
                  <a:srgbClr val="2D7D67"/>
                </a:solidFill>
              </a:rPr>
              <a:t>BLOCKED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4380D7-1DE3-4E26-A2EB-0738A4FEB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1625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111820"/>
                </a:solidFill>
              </a:defRPr>
            </a:pPr>
            <a:r>
              <a:rPr sz="1425" b="1">
                <a:solidFill>
                  <a:srgbClr val="111820"/>
                </a:solidFill>
              </a:rPr>
              <a:t>越狱</a:t>
            </a:r>
          </a:p>
        </p:txBody>
      </p:sp>
    </p:spTree>
    <p:extLst>
      <p:ext uri="{BB962C8B-B14F-4D97-AF65-F5344CB8AC3E}">
        <p14:creationId xmlns:p14="http://schemas.microsoft.com/office/powerpoint/2010/main" val="4469522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24f66e5874dc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6F3C3E-7B65-43E2-9A8F-2C497661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CCF21F-E879-4F08-84B6-3EC0F91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FBF284-6BE2-42BE-AE32-B9605BCD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浙江大学  ZHEJIANG UNIVERSITY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4521B-408A-4A39-A278-A919AD9D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9ACBC-2E19-4C79-92A9-2F6555DC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1475"/>
            <a:ext cx="12192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9E839F-E8E3-4C1E-BD54-A7E5EC4E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87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可靠性来自可重复测试，而不是一次漂亮演示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ADA0BF-5014-41A4-8CAA-CFF99080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2F56CD-A6D3-4103-A69F-51022A6A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534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8B9604-264F-4F0C-8858-9619BBBF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53415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0797FB-39C7-4251-AB0C-28B8C663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5722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Finance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98883E-B255-46C4-A4D0-06A8CEC3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72250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research only · facts / inference / risk · no auto trading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06A8B-DDF7-47BC-A6FC-22FD7CC7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722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8 /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7B9C81-0482-46A7-892F-B4C63AE3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3429000" cy="2476500"/>
          </a:xfrm>
          <a:prstGeom xmlns:a="http://schemas.openxmlformats.org/drawingml/2006/main" prst="roundRect">
            <a:avLst>
              <a:gd name="adj" fmla="val 2308"/>
            </a:avLst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63AFBB-81C7-493E-9A06-05EA327E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304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188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33C21B-409F-4472-B040-71E30CA8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tests passed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2EAFA3-61F7-47E3-B898-445ED0CD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E7F0F8"/>
                </a:solidFill>
              </a:defRPr>
            </a:pPr>
            <a:r>
              <a:rPr sz="1050" b="0">
                <a:solidFill>
                  <a:srgbClr val="E7F0F8"/>
                </a:solidFill>
              </a:rPr>
              <a:t>1 skipped · 真实模型诱导测试需显式开启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811306-C584-4BB0-BB51-FE95095E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09700"/>
            <a:ext cx="2190750" cy="1162050"/>
          </a:xfrm>
          <a:prstGeom xmlns:a="http://schemas.openxmlformats.org/drawingml/2006/main" prst="roundRect">
            <a:avLst>
              <a:gd name="adj" fmla="val 49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A690DE-A8A3-4B49-B979-6C8D1A75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6210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3F7D"/>
                </a:solidFill>
              </a:defRPr>
            </a:pPr>
            <a:r>
              <a:rPr sz="1500" b="1">
                <a:solidFill>
                  <a:srgbClr val="003F7D"/>
                </a:solidFill>
              </a:rPr>
              <a:t>主循环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CA9FE1-AF2C-46AD-9E87-99098EED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52625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tool error observation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上下文压缩与截断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512E0E-C05B-4BE5-8D15-0D73E450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409700"/>
            <a:ext cx="2190750" cy="1162050"/>
          </a:xfrm>
          <a:prstGeom xmlns:a="http://schemas.openxmlformats.org/drawingml/2006/main" prst="roundRect">
            <a:avLst>
              <a:gd name="adj" fmla="val 49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D7D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26A58D-16DD-4F49-BC15-302789951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56210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D7D67"/>
                </a:solidFill>
              </a:defRPr>
            </a:pPr>
            <a:r>
              <a:rPr sz="1500" b="1">
                <a:solidFill>
                  <a:srgbClr val="2D7D67"/>
                </a:solidFill>
              </a:rPr>
              <a:t>金融可靠性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41F758-B0DF-4311-91DA-2CDDB8E3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52625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多源融合 · 代码解析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预测账本 · 纸面组合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00A3ED-8635-4334-9016-BC93FB25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409700"/>
            <a:ext cx="2190750" cy="1162050"/>
          </a:xfrm>
          <a:prstGeom xmlns:a="http://schemas.openxmlformats.org/drawingml/2006/main" prst="roundRect">
            <a:avLst>
              <a:gd name="adj" fmla="val 49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4C2C84-54E1-4701-A545-F95768F6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56210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A6B2"/>
                </a:solidFill>
              </a:defRPr>
            </a:pPr>
            <a:r>
              <a:rPr sz="1500" b="1">
                <a:solidFill>
                  <a:srgbClr val="00A6B2"/>
                </a:solidFill>
              </a:rPr>
              <a:t>扩展能力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236F9E-14E9-491D-92ED-585BF9E4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952625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CLI · MCP · Skills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动态命令与 Memory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1EED2A-1A55-401B-A4FE-FEACED16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95600"/>
            <a:ext cx="2190750" cy="1162050"/>
          </a:xfrm>
          <a:prstGeom xmlns:a="http://schemas.openxmlformats.org/drawingml/2006/main" prst="roundRect">
            <a:avLst>
              <a:gd name="adj" fmla="val 49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DB4104-3888-46B5-9C07-3B2AB28A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4800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5483A"/>
                </a:solidFill>
              </a:defRPr>
            </a:pPr>
            <a:r>
              <a:rPr sz="1500" b="1">
                <a:solidFill>
                  <a:srgbClr val="C5483A"/>
                </a:solidFill>
              </a:rPr>
              <a:t>安全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8B0CB5-DDE3-4321-B9E9-C310BC18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38525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真实交易拒绝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路径 / secret / shell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2D2B1E-C180-4016-8560-4CA816B2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95600"/>
            <a:ext cx="2190750" cy="1162050"/>
          </a:xfrm>
          <a:prstGeom xmlns:a="http://schemas.openxmlformats.org/drawingml/2006/main" prst="roundRect">
            <a:avLst>
              <a:gd name="adj" fmla="val 49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8A2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1D3082-5994-4ACA-A405-914AF436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4800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D88A22"/>
                </a:solidFill>
              </a:defRPr>
            </a:pPr>
            <a:r>
              <a:rPr sz="1500" b="1">
                <a:solidFill>
                  <a:srgbClr val="D88A22"/>
                </a:solidFill>
              </a:rPr>
              <a:t>副作用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717E7D-2B33-4501-91C0-82F73BB2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438525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dry-run outbox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失败后不重复执行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7F6C67-3557-4C77-9E24-876602B3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95600"/>
            <a:ext cx="2190750" cy="1162050"/>
          </a:xfrm>
          <a:prstGeom xmlns:a="http://schemas.openxmlformats.org/drawingml/2006/main" prst="roundRect">
            <a:avLst>
              <a:gd name="adj" fmla="val 49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1E64B7-6FFF-4C04-A7D1-F5C343A2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4800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3F7D"/>
                </a:solidFill>
              </a:defRPr>
            </a:pPr>
            <a:r>
              <a:rPr sz="1500" b="1">
                <a:solidFill>
                  <a:srgbClr val="003F7D"/>
                </a:solidFill>
              </a:rPr>
              <a:t>现场体验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841D0E-B387-43B3-A46A-F8DA6B04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38525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trace 折叠 / 展开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36273"/>
                </a:solidFill>
              </a:defRPr>
            </a:pPr>
            <a:r>
              <a:rPr sz="1125" b="0">
                <a:solidFill>
                  <a:srgbClr val="536273"/>
                </a:solidFill>
              </a:rPr>
              <a:t>错误呈现与补全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18E1D3-2103-4585-AC9D-793F27F2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1182350" cy="121920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9525">
            <a:solidFill>
              <a:srgbClr val="CBD8E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C04E25-94ED-4090-8560-3BE9F9F8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62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03F7D"/>
                </a:solidFill>
              </a:defRPr>
            </a:pPr>
            <a:r>
              <a:rPr sz="1500" b="1">
                <a:solidFill>
                  <a:srgbClr val="003F7D"/>
                </a:solidFill>
              </a:rPr>
              <a:t>量化消融 · n=6/组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D132D8-52E0-47F0-B2D9-C7FF63E3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62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D7D67"/>
                </a:solidFill>
              </a:defRPr>
            </a:pPr>
            <a:r>
              <a:rPr sz="1350" b="1">
                <a:solidFill>
                  <a:srgbClr val="2D7D67"/>
                </a:solidFill>
              </a:rPr>
              <a:t>完整 policy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02C6F6-81A7-4A55-9281-FB0D53E5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7625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成功率 1.00 · JSON 1.00 · 平均 878 token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29DFEB-3B29-459B-B31E-04C01200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387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5483A"/>
                </a:solidFill>
              </a:defRPr>
            </a:pPr>
            <a:r>
              <a:rPr sz="1350" b="1">
                <a:solidFill>
                  <a:srgbClr val="C5483A"/>
                </a:solidFill>
              </a:rPr>
              <a:t>移除 policy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96FB69-52CC-4334-A5A2-758E6A52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387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成功率 0.33 · JSON 0.50 · 平均 158 token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6045B3F-C19B-4513-B725-920A0428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9149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36273"/>
                </a:solidFill>
              </a:defRPr>
            </a:pPr>
            <a:r>
              <a:rPr sz="1125" b="1">
                <a:solidFill>
                  <a:srgbClr val="536273"/>
                </a:solidFill>
              </a:rPr>
              <a:t>确定性轨迹回放，不代表投资准确率</a:t>
            </a:r>
          </a:p>
        </p:txBody>
      </p:sp>
    </p:spTree>
    <p:extLst>
      <p:ext uri="{BB962C8B-B14F-4D97-AF65-F5344CB8AC3E}">
        <p14:creationId xmlns:p14="http://schemas.microsoft.com/office/powerpoint/2010/main" val="3127995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b2d43e1f05450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FFDB0D-BE65-47F8-AD99-F3595820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F7DCD-D5FD-49AC-B5B1-727D54FA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6CFA21-4E8B-4B58-A61D-65255B24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浙江大学  ZHEJIANG UNIVERSITY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3596E5-9DBE-4E4F-9B7C-00B07315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4501D-B5D3-46B0-8A7A-19ECD22F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1475"/>
            <a:ext cx="12192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DB9ABB-8C5A-4AAA-A719-9FF24C57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87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现场重点不是“零报错”，而是完成、恢复并解释过程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F6D85-A4D4-494A-96B4-6583321A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D93E0-19B6-461C-A05C-3AE10C48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534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D65DD1-9239-42B3-A51E-8C5027A9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53415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8F5603-3974-4566-8A1D-B70BD089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5722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Finance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AB8205-3E2D-442D-9787-89CBB053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72250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research only · facts / inference / risk · no auto trading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4540F7-4062-496C-A75F-19CBB45D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722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9 /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E3E723-3A67-4304-BAED-64BB4D3E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871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7ACB17-9029-423B-B250-A90820F7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666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DF6AEC-7CD6-4276-8E8F-A28B2492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66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35BFF0-2280-48EF-A156-2DD53DD0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4668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03F7D"/>
                </a:solidFill>
              </a:defRPr>
            </a:pPr>
            <a:r>
              <a:rPr sz="1575" b="1">
                <a:solidFill>
                  <a:srgbClr val="003F7D"/>
                </a:solidFill>
              </a:rPr>
              <a:t>系统与跨会话记忆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4F50B3-CC7A-4495-9142-8CA8ED85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819275"/>
            <a:ext cx="693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11820"/>
                </a:solidFill>
              </a:defRPr>
            </a:pPr>
            <a:r>
              <a:rPr sz="1050" b="0">
                <a:solidFill>
                  <a:srgbClr val="111820"/>
                </a:solidFill>
              </a:rPr>
              <a:t>--selfcheck  →  /remember 港股报告保留展示代码和查询代码  →  重启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7826DC-B14B-4F70-A259-E2F79857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543050"/>
            <a:ext cx="2705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36273"/>
                </a:solidFill>
              </a:defRPr>
            </a:pPr>
            <a:r>
              <a:rPr sz="1200" b="1">
                <a:solidFill>
                  <a:srgbClr val="536273"/>
                </a:solidFill>
              </a:rPr>
              <a:t>证明系统存活；新进程仍遵循约定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B453AC-4A6D-467B-9118-86785943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110871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A35CBC-9FA7-4BFF-9828-EE92C223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66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00A6B2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ABBC43-8DA9-4C01-9596-31218F50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6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F170FD-10F9-4A64-A154-BD123204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670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0A6B2"/>
                </a:solidFill>
              </a:defRPr>
            </a:pPr>
            <a:r>
              <a:rPr sz="1575" b="1">
                <a:solidFill>
                  <a:srgbClr val="00A6B2"/>
                </a:solidFill>
              </a:rPr>
              <a:t>领域综合任务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27D78C-CC69-49C1-AF13-5B8E23A3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19425"/>
            <a:ext cx="693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11820"/>
                </a:solidFill>
              </a:defRPr>
            </a:pPr>
            <a:r>
              <a:rPr sz="1050" b="0">
                <a:solidFill>
                  <a:srgbClr val="111820"/>
                </a:solidFill>
              </a:rPr>
              <a:t>task_list → Skill → 多源金融工具 → mcp__finance__risk_budget → 预测入表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75E260-02B2-4350-9011-E72B301D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43200"/>
            <a:ext cx="2705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36273"/>
                </a:solidFill>
              </a:defRPr>
            </a:pPr>
            <a:r>
              <a:rPr sz="1200" b="1">
                <a:solidFill>
                  <a:srgbClr val="536273"/>
                </a:solidFill>
              </a:rPr>
              <a:t>完成腾讯 / AAPL 比较并导出报告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B41B1A-A972-4E49-8D38-E94E9F18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0871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D7D6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6EC9F2-5631-4738-BDB2-FF025316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666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2D7D67"/>
          </a:solidFill>
          <a:ln xmlns:a="http://schemas.openxmlformats.org/drawingml/2006/main" w="9525">
            <a:solidFill>
              <a:srgbClr val="2D7D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DA532E-CDD5-43B0-930C-5DC5A9AC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66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E9CE39-B74E-4355-A905-D1F9742F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671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2D7D67"/>
                </a:solidFill>
              </a:defRPr>
            </a:pPr>
            <a:r>
              <a:rPr sz="1575" b="1">
                <a:solidFill>
                  <a:srgbClr val="2D7D67"/>
                </a:solidFill>
              </a:rPr>
              <a:t>故意失败恢复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6D42C0-6E4E-45F4-99E2-F1BFFB73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19575"/>
            <a:ext cx="693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11820"/>
                </a:solidFill>
              </a:defRPr>
            </a:pPr>
            <a:r>
              <a:rPr sz="1050" b="0">
                <a:solidFill>
                  <a:srgbClr val="111820"/>
                </a:solidFill>
              </a:rPr>
              <a:t>read data/watchlist.csv 失败 → glob 找到真实 CSV → 更新 todo → 继续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A44FEB-6676-4805-BA41-97C533DE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43350"/>
            <a:ext cx="2705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36273"/>
                </a:solidFill>
              </a:defRPr>
            </a:pPr>
            <a:r>
              <a:rPr sz="1200" b="1">
                <a:solidFill>
                  <a:srgbClr val="536273"/>
                </a:solidFill>
              </a:rPr>
              <a:t>展示错误 observation，而不是隐藏失败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F420F1-5856-4146-9134-324E2A2C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33950"/>
            <a:ext cx="110871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ACA6DC-F6D6-4066-9134-87AD0616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666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C5483A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E81986-D655-4471-B4F8-E53C047A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66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202081-D14C-4F7E-88D1-829A3AAD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673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C5483A"/>
                </a:solidFill>
              </a:defRPr>
            </a:pPr>
            <a:r>
              <a:rPr sz="1575" b="1">
                <a:solidFill>
                  <a:srgbClr val="C5483A"/>
                </a:solidFill>
              </a:rPr>
              <a:t>安全与可观测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776E5C-0571-4C86-91CE-730ADE47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19725"/>
            <a:ext cx="693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11820"/>
                </a:solidFill>
              </a:defRPr>
            </a:pPr>
            <a:r>
              <a:rPr sz="1050" b="0">
                <a:solidFill>
                  <a:srgbClr val="111820"/>
                </a:solidFill>
              </a:rPr>
              <a:t>拒绝真实下单 + 微信 dry-run；任务后 /trace 回放耗时与 token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A71A978-1044-4619-9A30-AC2A009C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143500"/>
            <a:ext cx="2705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36273"/>
                </a:solidFill>
              </a:defRPr>
            </a:pPr>
            <a:r>
              <a:rPr sz="1200" b="1">
                <a:solidFill>
                  <a:srgbClr val="536273"/>
                </a:solidFill>
              </a:rPr>
              <a:t>安全边界与过程解释同时可见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716824-23F4-4937-9B79-D4DE4591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6191250"/>
            <a:ext cx="21907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003F7D">
              <a:alpha val="9412"/>
            </a:srgbClr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85E1ADC-53A5-4758-B4F3-1A507CD0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62103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03F7D"/>
                </a:solidFill>
              </a:defRPr>
            </a:pPr>
            <a:r>
              <a:rPr sz="1125" b="1">
                <a:solidFill>
                  <a:srgbClr val="003F7D"/>
                </a:solidFill>
              </a:rPr>
              <a:t>演示默认 /trace off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92DFD0-6458-4368-B692-C97A91E2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191250"/>
            <a:ext cx="23812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88A22">
              <a:alpha val="9412"/>
            </a:srgbClr>
          </a:solidFill>
          <a:ln xmlns:a="http://schemas.openxmlformats.org/drawingml/2006/main" w="9525">
            <a:solidFill>
              <a:srgbClr val="D88A2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C93653-BB8D-4E71-97F7-8B19BAFD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62103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88A22"/>
                </a:solidFill>
              </a:defRPr>
            </a:pPr>
            <a:r>
              <a:rPr sz="1125" b="1">
                <a:solidFill>
                  <a:srgbClr val="D88A22"/>
                </a:solidFill>
              </a:rPr>
              <a:t>评委追问时输入 /trace</a:t>
            </a:r>
          </a:p>
        </p:txBody>
      </p:sp>
    </p:spTree>
    <p:extLst>
      <p:ext uri="{BB962C8B-B14F-4D97-AF65-F5344CB8AC3E}">
        <p14:creationId xmlns:p14="http://schemas.microsoft.com/office/powerpoint/2010/main" val="9269722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34467511aa48c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243B12-AA56-4293-B8F7-921052DE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2C94B-BBD7-4D9D-9614-86EA0750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649867-526B-4D2D-80DE-6912217F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浙江大学  ZHEJIANG UNIVERSITY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3E9615-EF81-42A7-86A6-BB1C1853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 w="9525">
            <a:solidFill>
              <a:srgbClr val="00A6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86ACDB-C970-4362-82CA-23D27F57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1475"/>
            <a:ext cx="12192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12193B-0306-4E8D-9A96-BB0A7FF9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"/>
            <a:ext cx="11087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我们交付的是可审计研究过程，不是自动交易承诺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6E30D-BE6D-442F-BBB9-15447522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341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9E2438-0CA6-4358-9C86-CF02EEDE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534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11182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59220D-1086-4769-9E68-95E8E319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53415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2A0F56-ADA7-4C59-90DF-BE451EB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5722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Finance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719E2-F599-4854-9B21-B4E3D707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72250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0">
                <a:solidFill>
                  <a:srgbClr val="FFFFFF"/>
                </a:solidFill>
              </a:defRPr>
            </a:pPr>
            <a:r>
              <a:rPr sz="975" b="0">
                <a:solidFill>
                  <a:srgbClr val="FFFFFF"/>
                </a:solidFill>
              </a:rPr>
              <a:t>research only · facts / inference / risk · no auto trading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7588DF-C26E-4875-9EE1-FB727630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722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10 /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D7CA83-7FD5-4956-A1ED-5C5395FB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3333750" cy="28575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04BDB-0729-488F-90F3-F8FEEDCE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666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B0A238-07BA-4933-98D8-AA5989CA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526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03F7D"/>
                </a:solidFill>
              </a:defRPr>
            </a:pPr>
            <a:r>
              <a:rPr sz="2100" b="1">
                <a:solidFill>
                  <a:srgbClr val="003F7D"/>
                </a:solidFill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50DA29-5103-41E0-8152-BC69E9E4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52600"/>
            <a:ext cx="2343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03F7D"/>
                </a:solidFill>
              </a:defRPr>
            </a:pPr>
            <a:r>
              <a:rPr sz="1725" b="1">
                <a:solidFill>
                  <a:srgbClr val="003F7D"/>
                </a:solidFill>
              </a:rPr>
              <a:t>证据可检查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4F1CE9-1EC6-4633-871F-C86A0376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28765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数字带来源与时间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跨源覆盖与缺口显式保留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真实来源失败时不编数字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AE6F7F-AA5A-491A-8BBE-8ED61F2C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62100"/>
            <a:ext cx="3333750" cy="28575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D7D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49C2B0-039F-4E56-8053-EDCE30CC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62100"/>
            <a:ext cx="666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D67"/>
          </a:solidFill>
          <a:ln xmlns:a="http://schemas.openxmlformats.org/drawingml/2006/main" w="9525">
            <a:solidFill>
              <a:srgbClr val="2D7D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92ADB5-19D6-42E8-87E2-6F4217F3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7526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2D7D67"/>
                </a:solidFill>
              </a:defRPr>
            </a:pPr>
            <a:r>
              <a:rPr sz="2100" b="1">
                <a:solidFill>
                  <a:srgbClr val="2D7D67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0D2185-D487-4F03-951C-00D3A42C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1752600"/>
            <a:ext cx="2343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D7D67"/>
                </a:solidFill>
              </a:defRPr>
            </a:pPr>
            <a:r>
              <a:rPr sz="1725" b="1">
                <a:solidFill>
                  <a:srgbClr val="2D7D67"/>
                </a:solidFill>
              </a:rPr>
              <a:t>判断可反驳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284D6-4A71-4776-ABC2-F6669E7F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305050"/>
            <a:ext cx="28765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多角色主动寻找反例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质量门禁限制结论强度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预测等待真实价格回评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1C4D0A-9BA0-4A06-9E58-CF1FBA34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62100"/>
            <a:ext cx="3333750" cy="28575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264F75-F9E7-41DA-9CA7-07CBB096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62100"/>
            <a:ext cx="666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483A"/>
          </a:solidFill>
          <a:ln xmlns:a="http://schemas.openxmlformats.org/drawingml/2006/main" w="9525">
            <a:solidFill>
              <a:srgbClr val="C5483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F4C6E9-FB31-45B6-BB87-06C641B7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5483A"/>
                </a:solidFill>
              </a:defRPr>
            </a:pPr>
            <a:r>
              <a:rPr sz="2100" b="1">
                <a:solidFill>
                  <a:srgbClr val="C5483A"/>
                </a:solidFill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2A22C9-608D-49E0-9807-991AF1F8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52600"/>
            <a:ext cx="2343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5483A"/>
                </a:solidFill>
              </a:defRPr>
            </a:pPr>
            <a:r>
              <a:rPr sz="1725" b="1">
                <a:solidFill>
                  <a:srgbClr val="C5483A"/>
                </a:solidFill>
              </a:rPr>
              <a:t>副作用可控制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D3FCAB-3AC8-46B6-8A5E-C98B9C9C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05050"/>
            <a:ext cx="28765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真实交易确定性拒绝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外传与执行经过权限层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11820"/>
                </a:solidFill>
              </a:defRPr>
            </a:pPr>
            <a:r>
              <a:rPr sz="1350" b="0">
                <a:solidFill>
                  <a:srgbClr val="111820"/>
                </a:solidFill>
              </a:rPr>
              <a:t>默认 dry-run，保留审计轨迹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B3CAF2-090E-4529-8776-48C6E4B6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53000"/>
            <a:ext cx="986790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03F7D"/>
          </a:solidFill>
          <a:ln xmlns:a="http://schemas.openxmlformats.org/drawingml/2006/main" w="9525">
            <a:solidFill>
              <a:srgbClr val="003F7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D5D7BF-AEFF-4E08-B48C-1A3DAE5F8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0540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模型负责理解与编排，确定性程序负责数据、计算和安全。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D1E2C1-15ED-4FFB-B859-3345C47C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9531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02B55"/>
                </a:solidFill>
              </a:defRPr>
            </a:pPr>
            <a:r>
              <a:rPr sz="1500" b="1">
                <a:solidFill>
                  <a:srgbClr val="002B55"/>
                </a:solidFill>
              </a:rPr>
              <a:t>下一步：积累真实到期预测，持续校准数据源可靠性与置信度。</a:t>
            </a:r>
          </a:p>
        </p:txBody>
      </p:sp>
    </p:spTree>
    <p:extLst>
      <p:ext uri="{BB962C8B-B14F-4D97-AF65-F5344CB8AC3E}">
        <p14:creationId xmlns:p14="http://schemas.microsoft.com/office/powerpoint/2010/main" val="17990015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2026-07-14T13:15:16.1950000Z</dcterms:created>
  <dcterms:modified xsi:type="dcterms:W3CDTF">2026-07-14T13:15:16.1950000Z</dcterms:modified>
</coreProperties>
</file>